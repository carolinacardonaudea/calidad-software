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5623f8cf-67ed-4cc1-12fa-66e543f52603}">
          <p14:sldIdLst>
            <p14:sldId id="256"/>
            <p14:sldId id="257"/>
            <p14:sldId id="258"/>
            <p14:sldId id="259"/>
            <p14:sldId id="260"/>
          </p14:sldIdLst>
        </p14:section>
        <p14:section name="Pruebas de aceptación" id="{81d5732e-adfd-2134-5700-33907e7f5c18}">
          <p14:sldIdLst>
            <p14:sldId id="261"/>
            <p14:sldId id="262"/>
            <p14:sldId id="263"/>
            <p14:sldId id="264"/>
          </p14:sldIdLst>
        </p14:section>
        <p14:section name="SonarCloud" id="{0b4e120f-f6c9-ce38-0365-ed448f720cb4}">
          <p14:sldIdLst>
            <p14:sldId id="265"/>
            <p14:sldId id="266"/>
            <p14:sldId id="267"/>
            <p14:sldId id="268"/>
          </p14:sldIdLst>
        </p14:section>
        <p14:section name="Integración y estado" id="{6345668a-6e85-adfe-e708-07c4d43c770f}">
          <p14:sldIdLst>
            <p14:sldId id="269"/>
            <p14:sldId id="270"/>
            <p14:sldId id="271"/>
          </p14:sldIdLst>
        </p14:section>
        <p14:section name="Cierre" id="{95428c74-0c9a-3941-a059-40138ed7e1e8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</c:v>
                </c:pt>
              </c:strCache>
            </c:strRef>
          </c:tx>
          <c:spPr>
            <a:solidFill>
              <a:srgbClr val="1F5E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Instrucciones (JaCoCo)</c:v>
                  </c:pt>
                  <c:pt idx="1">
                    <c:v>Líneas (JaCoCo)</c:v>
                  </c:pt>
                  <c:pt idx="2">
                    <c:v>SonarCloud</c:v>
                  </c:pt>
                  <c:pt idx="3">
                    <c:v>Ramas (JaCoCo)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93.3</c:v>
                </c:pt>
                <c:pt idx="1">
                  <c:v>91.7</c:v>
                </c:pt>
                <c:pt idx="2">
                  <c:v>93.7</c:v>
                </c:pt>
                <c:pt idx="3">
                  <c:v>77.6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Ejecuciones</c:v>
                </c:pt>
              </c:strCache>
            </c:strRef>
          </c:tx>
          <c:spPr>
            <a:solidFill>
              <a:srgbClr val="1F5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Operaciones</c:v>
                  </c:pt>
                  <c:pt idx="1">
                    <c:v>Excepciones</c:v>
                  </c:pt>
                  <c:pt idx="2">
                    <c:v>Historial</c:v>
                  </c:pt>
                  <c:pt idx="3">
                    <c:v>Extensibilidad</c:v>
                  </c:pt>
                  <c:pt idx="4">
                    <c:v>UI teclado</c:v>
                  </c:pt>
                  <c:pt idx="5">
                    <c:v>UI errores</c:v>
                  </c:pt>
                  <c:pt idx="6">
                    <c:v>Consola CLI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</c:v>
                </c:pt>
                <c:pt idx="1">
                  <c:v>20</c:v>
                </c:pt>
                <c:pt idx="2">
                  <c:v>4</c:v>
                </c:pt>
                <c:pt idx="3">
                  <c:v>5</c:v>
                </c:pt>
                <c:pt idx="4">
                  <c:v>28</c:v>
                </c:pt>
                <c:pt idx="5">
                  <c:v>11</c:v>
                </c:pt>
                <c:pt idx="6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cómo se verifica la calidad de la calculadora más allá de las pruebas unitarias, con pruebas de aceptación y análisis estático automatizados.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bloques: contexto, aceptación con Karate, SonarCloud, integración y estado, y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puntos 1 a 3 del trabajo son técnicos; el 4, 5 y 6 son la documentación: socialización, esta presentación y la guía paso a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capa responde una pregunta distinta. Las tres se automatizan con Gradle y se encadenan en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Cobertura medida por SonarCloud en el primer análisis: 93,7 %. JaCoCo: instrucciones 93,3 %, líneas 91,7 %, ramas 77,6 %.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calculadora no expone endpoints. Karate invoca clases Java, así que se crearon tres drivers que representan las tres puertas de entrada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fila de Examples cuenta como una ejecución. 44 definiciones de escenario. Verificado con un arnés equivalente en Java: 130 de 130.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tabla Examples convierte un escenario en muchos casos. Agregar un caso es agregar una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de aceptación se ejecutan con una tarea de Gradle propia y también forman parte de gradlew check. El reporte HTML queda en build/karate-reports.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“Calculadora Quality Gate”: el código nuevo se exige estrictamente; el total tiene topes más holgados.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perfiles integrados Sonar way son de solo lectura: se copia como “Calculadora Java Profile” (copia de Sonar way comprehensive) y se activan reglas con umbral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Quality Profile reporta como issue cada método que supera el umbral; el Quality Gate falla cuando aparece un issue nuevo (new_violations = 0) o se superan los topes globales.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medidos por SonarCloud en el primer análisis (el máximo por método viene de lizard). Los topes dejan margen de crecimiento y se pueden ajustar.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de GitHub Actions: .github/workflows/sonarcloud.yml. check-metrics.sh aplica los topes de complejidad y cobertura para cuando termine la prueba del plan Team y el gate propio ya no se pueda asignar.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Estado de cada elemento. Gate y profile propios están asignados al proyecto mientras dure la prueba del plan Team (hasta el 1 de noviembre de 2026); con el plan gratuito SonarCloud no permite asignarlos.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leídos del proyecto tras la corrida #4 de GitHub Actions (rama main).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corrida de CI ya pasa completa. Queda alinear la rama principal de SonarCloud con `main` y decidir el plan antes de que termine la prueba del plan Team (1 de noviembre de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Calidad de la calculadora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Pruebas de aceptación con Karate, Quality Gate y Quality Profile en SonarCloud</a:t>
            </a:r>
            <a:endParaRPr lang="en-US" sz="2200" dirty="0"/>
          </a:p>
        </p:txBody>
      </p:sp>
      <p:sp>
        <p:nvSpPr>
          <p:cNvPr id="4" name="Acento portada"/>
          <p:cNvSpPr/>
          <p:nvPr/>
        </p:nvSpPr>
        <p:spPr>
          <a:xfrm>
            <a:off x="640080" y="1143000"/>
            <a:ext cx="8229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echa"/>
          <p:cNvSpPr txBox="1"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Calidad de Software · UdeA · Octubre de 2026</a:t>
            </a:r>
            <a:endParaRPr lang="en-US" sz="1400" dirty="0"/>
          </a:p>
        </p:txBody>
      </p:sp>
      <p:sp>
        <p:nvSpPr>
          <p:cNvPr id="6" name="Repositorio"/>
          <p:cNvSpPr txBox="1"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https://github.com/carolinacardonaUdeA/calidad-software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Agenda</a:t>
            </a:r>
            <a:endParaRPr lang="en-US" sz="3200" dirty="0"/>
          </a:p>
        </p:txBody>
      </p:sp>
      <p:sp>
        <p:nvSpPr>
          <p:cNvPr id="4" name="Número agenda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o número 1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ma agenda 1"/>
          <p:cNvSpPr txBox="1"/>
          <p:nvPr/>
        </p:nvSpPr>
        <p:spPr>
          <a:xfrm>
            <a:off x="1234440" y="124358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 de calidad y punto de partida</a:t>
            </a:r>
            <a:endParaRPr lang="en-US" sz="2000" dirty="0"/>
          </a:p>
        </p:txBody>
      </p:sp>
      <p:sp>
        <p:nvSpPr>
          <p:cNvPr id="7" name="Número agenda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o número 2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ma agenda 2"/>
          <p:cNvSpPr txBox="1"/>
          <p:nvPr/>
        </p:nvSpPr>
        <p:spPr>
          <a:xfrm>
            <a:off x="1234440" y="18836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aceptación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Karate sin API HTTP, suite y ejemplo</a:t>
            </a:r>
            <a:endParaRPr lang="en-US" sz="2000" dirty="0"/>
          </a:p>
        </p:txBody>
      </p:sp>
      <p:sp>
        <p:nvSpPr>
          <p:cNvPr id="10" name="Número agenda 3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o número 3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ma agenda 3"/>
          <p:cNvSpPr txBox="1"/>
          <p:nvPr/>
        </p:nvSpPr>
        <p:spPr>
          <a:xfrm>
            <a:off x="1234440" y="252374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Gate, Quality Profile y umbrales</a:t>
            </a:r>
            <a:endParaRPr lang="en-US" sz="2000" dirty="0"/>
          </a:p>
        </p:txBody>
      </p:sp>
      <p:sp>
        <p:nvSpPr>
          <p:cNvPr id="13" name="Número agenda 4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o número 4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ma agenda 4"/>
          <p:cNvSpPr txBox="1"/>
          <p:nvPr/>
        </p:nvSpPr>
        <p:spPr>
          <a:xfrm>
            <a:off x="1234440" y="316382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estado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qué quedó listo y qué falta</a:t>
            </a:r>
            <a:endParaRPr lang="en-US" sz="2000" dirty="0"/>
          </a:p>
        </p:txBody>
      </p:sp>
      <p:sp>
        <p:nvSpPr>
          <p:cNvPr id="16" name="Número agenda 5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o número 5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ma agenda 5"/>
          <p:cNvSpPr txBox="1"/>
          <p:nvPr/>
        </p:nvSpPr>
        <p:spPr>
          <a:xfrm>
            <a:off x="1234440" y="380390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y próximos pasos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Qué se construyó</a:t>
            </a:r>
            <a:endParaRPr lang="en-US" sz="3200" dirty="0"/>
          </a:p>
        </p:txBody>
      </p:sp>
      <p:sp>
        <p:nvSpPr>
          <p:cNvPr id="4" name="Tarjeta Pruebas de aceptación"/>
          <p:cNvSpPr/>
          <p:nvPr/>
        </p:nvSpPr>
        <p:spPr>
          <a:xfrm>
            <a:off x="457200" y="132588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cento Pruebas de aceptación"/>
          <p:cNvSpPr/>
          <p:nvPr/>
        </p:nvSpPr>
        <p:spPr>
          <a:xfrm>
            <a:off x="731520" y="1554480"/>
            <a:ext cx="45720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ítulo Pruebas de aceptación"/>
          <p:cNvSpPr txBox="1"/>
          <p:nvPr/>
        </p:nvSpPr>
        <p:spPr>
          <a:xfrm>
            <a:off x="73152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aceptación</a:t>
            </a:r>
            <a:endParaRPr lang="en-US" sz="1700" dirty="0"/>
          </a:p>
        </p:txBody>
      </p:sp>
      <p:sp>
        <p:nvSpPr>
          <p:cNvPr id="7" name="Herramienta Pruebas de aceptación"/>
          <p:cNvSpPr txBox="1"/>
          <p:nvPr/>
        </p:nvSpPr>
        <p:spPr>
          <a:xfrm>
            <a:off x="73152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Karate · 7 features</a:t>
            </a:r>
            <a:endParaRPr lang="en-US" sz="1400" dirty="0"/>
          </a:p>
        </p:txBody>
      </p:sp>
      <p:sp>
        <p:nvSpPr>
          <p:cNvPr id="8" name="Detalle Pruebas de aceptación"/>
          <p:cNvSpPr txBox="1"/>
          <p:nvPr/>
        </p:nvSpPr>
        <p:spPr>
          <a:xfrm>
            <a:off x="731520" y="2651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ejecuciones sobre motor, interfaz y consola</a:t>
            </a:r>
            <a:endParaRPr lang="en-US" sz="1500" dirty="0"/>
          </a:p>
        </p:txBody>
      </p:sp>
      <p:sp>
        <p:nvSpPr>
          <p:cNvPr id="9" name="Tarjeta Quality Gate"/>
          <p:cNvSpPr/>
          <p:nvPr/>
        </p:nvSpPr>
        <p:spPr>
          <a:xfrm>
            <a:off x="3291840" y="132588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cento Quality Gate"/>
          <p:cNvSpPr/>
          <p:nvPr/>
        </p:nvSpPr>
        <p:spPr>
          <a:xfrm>
            <a:off x="3566160" y="1554480"/>
            <a:ext cx="45720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ítulo Quality Gate"/>
          <p:cNvSpPr txBox="1"/>
          <p:nvPr/>
        </p:nvSpPr>
        <p:spPr>
          <a:xfrm>
            <a:off x="356616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700" dirty="0"/>
          </a:p>
        </p:txBody>
      </p:sp>
      <p:sp>
        <p:nvSpPr>
          <p:cNvPr id="12" name="Herramienta Quality Gate"/>
          <p:cNvSpPr txBox="1"/>
          <p:nvPr/>
        </p:nvSpPr>
        <p:spPr>
          <a:xfrm>
            <a:off x="356616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· 10 condiciones</a:t>
            </a:r>
            <a:endParaRPr lang="en-US" sz="1400" dirty="0"/>
          </a:p>
        </p:txBody>
      </p:sp>
      <p:sp>
        <p:nvSpPr>
          <p:cNvPr id="13" name="Detalle Quality Gate"/>
          <p:cNvSpPr txBox="1"/>
          <p:nvPr/>
        </p:nvSpPr>
        <p:spPr>
          <a:xfrm>
            <a:off x="3566160" y="2651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semáforo que decide si el código pasa</a:t>
            </a:r>
            <a:endParaRPr lang="en-US" sz="1500" dirty="0"/>
          </a:p>
        </p:txBody>
      </p:sp>
      <p:sp>
        <p:nvSpPr>
          <p:cNvPr id="14" name="Tarjeta Quality Profile"/>
          <p:cNvSpPr/>
          <p:nvPr/>
        </p:nvSpPr>
        <p:spPr>
          <a:xfrm>
            <a:off x="6126480" y="132588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cento Quality Profile"/>
          <p:cNvSpPr/>
          <p:nvPr/>
        </p:nvSpPr>
        <p:spPr>
          <a:xfrm>
            <a:off x="6400800" y="1554480"/>
            <a:ext cx="45720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ítulo Quality Profile"/>
          <p:cNvSpPr txBox="1"/>
          <p:nvPr/>
        </p:nvSpPr>
        <p:spPr>
          <a:xfrm>
            <a:off x="640080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Profile</a:t>
            </a:r>
            <a:endParaRPr lang="en-US" sz="1700" dirty="0"/>
          </a:p>
        </p:txBody>
      </p:sp>
      <p:sp>
        <p:nvSpPr>
          <p:cNvPr id="17" name="Herramienta Quality Profile"/>
          <p:cNvSpPr txBox="1"/>
          <p:nvPr/>
        </p:nvSpPr>
        <p:spPr>
          <a:xfrm>
            <a:off x="640080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 · 2 reglas</a:t>
            </a:r>
            <a:endParaRPr lang="en-US" sz="1400" dirty="0"/>
          </a:p>
        </p:txBody>
      </p:sp>
      <p:sp>
        <p:nvSpPr>
          <p:cNvPr id="18" name="Detalle Quality Profile"/>
          <p:cNvSpPr txBox="1"/>
          <p:nvPr/>
        </p:nvSpPr>
        <p:spPr>
          <a:xfrm>
            <a:off x="6400800" y="26517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por método: ciclomática y cognitiva</a:t>
            </a:r>
            <a:endParaRPr lang="en-US" sz="1500" dirty="0"/>
          </a:p>
        </p:txBody>
      </p:sp>
      <p:sp>
        <p:nvSpPr>
          <p:cNvPr id="19" name="Franja métricas"/>
          <p:cNvSpPr/>
          <p:nvPr/>
        </p:nvSpPr>
        <p:spPr>
          <a:xfrm>
            <a:off x="457200" y="388620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o métricas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definidas en ambos:  complejidad ciclomática  ·  complejidad cognitiva  ·  cobertura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Tres capas de calidad</a:t>
            </a:r>
            <a:endParaRPr lang="en-US" sz="3200" dirty="0"/>
          </a:p>
        </p:txBody>
      </p:sp>
      <p:sp>
        <p:nvSpPr>
          <p:cNvPr id="4" name="Tarjeta Unitaria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 1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o número 1"/>
          <p:cNvSpPr txBox="1"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Capa Unitaria"/>
          <p:cNvSpPr txBox="1"/>
          <p:nvPr/>
        </p:nvSpPr>
        <p:spPr>
          <a:xfrm>
            <a:off x="73152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</a:t>
            </a:r>
            <a:endParaRPr lang="en-US" sz="2400" dirty="0"/>
          </a:p>
        </p:txBody>
      </p:sp>
      <p:sp>
        <p:nvSpPr>
          <p:cNvPr id="8" name="Herramienta Unitaria"/>
          <p:cNvSpPr txBox="1"/>
          <p:nvPr/>
        </p:nvSpPr>
        <p:spPr>
          <a:xfrm>
            <a:off x="73152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JaCoCo</a:t>
            </a:r>
            <a:endParaRPr lang="en-US" sz="1600" dirty="0"/>
          </a:p>
        </p:txBody>
      </p:sp>
      <p:sp>
        <p:nvSpPr>
          <p:cNvPr id="9" name="Pregunta Unitaria"/>
          <p:cNvSpPr txBox="1"/>
          <p:nvPr/>
        </p:nvSpPr>
        <p:spPr>
          <a:xfrm>
            <a:off x="731520" y="3474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¿Cada clase funciona sola?</a:t>
            </a:r>
            <a:endParaRPr lang="en-US" sz="1600" dirty="0"/>
          </a:p>
        </p:txBody>
      </p:sp>
      <p:sp>
        <p:nvSpPr>
          <p:cNvPr id="10" name="Tarjeta Aceptación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 2"/>
          <p:cNvSpPr/>
          <p:nvPr/>
        </p:nvSpPr>
        <p:spPr>
          <a:xfrm>
            <a:off x="35661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o número 2"/>
          <p:cNvSpPr txBox="1"/>
          <p:nvPr/>
        </p:nvSpPr>
        <p:spPr>
          <a:xfrm>
            <a:off x="35661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Capa Aceptación"/>
          <p:cNvSpPr txBox="1"/>
          <p:nvPr/>
        </p:nvSpPr>
        <p:spPr>
          <a:xfrm>
            <a:off x="356616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</a:t>
            </a:r>
            <a:endParaRPr lang="en-US" sz="2400" dirty="0"/>
          </a:p>
        </p:txBody>
      </p:sp>
      <p:sp>
        <p:nvSpPr>
          <p:cNvPr id="14" name="Herramienta Aceptación"/>
          <p:cNvSpPr txBox="1"/>
          <p:nvPr/>
        </p:nvSpPr>
        <p:spPr>
          <a:xfrm>
            <a:off x="356616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Karate (Gherkin)</a:t>
            </a:r>
            <a:endParaRPr lang="en-US" sz="1600" dirty="0"/>
          </a:p>
        </p:txBody>
      </p:sp>
      <p:sp>
        <p:nvSpPr>
          <p:cNvPr id="15" name="Pregunta Aceptación"/>
          <p:cNvSpPr txBox="1"/>
          <p:nvPr/>
        </p:nvSpPr>
        <p:spPr>
          <a:xfrm>
            <a:off x="3566160" y="3474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usuario obtiene lo que espera?</a:t>
            </a:r>
            <a:endParaRPr lang="en-US" sz="1600" dirty="0"/>
          </a:p>
        </p:txBody>
      </p:sp>
      <p:sp>
        <p:nvSpPr>
          <p:cNvPr id="16" name="Tarjeta Estática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úmero 3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o número 3"/>
          <p:cNvSpPr txBox="1"/>
          <p:nvPr/>
        </p:nvSpPr>
        <p:spPr>
          <a:xfrm>
            <a:off x="6400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Capa Estática"/>
          <p:cNvSpPr txBox="1"/>
          <p:nvPr/>
        </p:nvSpPr>
        <p:spPr>
          <a:xfrm>
            <a:off x="640080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Estática</a:t>
            </a:r>
            <a:endParaRPr lang="en-US" sz="2400" dirty="0"/>
          </a:p>
        </p:txBody>
      </p:sp>
      <p:sp>
        <p:nvSpPr>
          <p:cNvPr id="20" name="Herramienta Estática"/>
          <p:cNvSpPr txBox="1"/>
          <p:nvPr/>
        </p:nvSpPr>
        <p:spPr>
          <a:xfrm>
            <a:off x="64008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</a:t>
            </a:r>
            <a:endParaRPr lang="en-US" sz="1600" dirty="0"/>
          </a:p>
        </p:txBody>
      </p:sp>
      <p:sp>
        <p:nvSpPr>
          <p:cNvPr id="21" name="Pregunta Estática"/>
          <p:cNvSpPr txBox="1"/>
          <p:nvPr/>
        </p:nvSpPr>
        <p:spPr>
          <a:xfrm>
            <a:off x="6400800" y="3474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código sigue sano y cubierto?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Punto de partida</a:t>
            </a:r>
            <a:endParaRPr lang="en-US" sz="3200" dirty="0"/>
          </a:p>
        </p:txBody>
      </p:sp>
      <p:sp>
        <p:nvSpPr>
          <p:cNvPr id="4" name="Tarjeta dato 1"/>
          <p:cNvSpPr/>
          <p:nvPr/>
        </p:nvSpPr>
        <p:spPr>
          <a:xfrm>
            <a:off x="457200" y="1325880"/>
            <a:ext cx="24688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fra 1"/>
          <p:cNvSpPr txBox="1"/>
          <p:nvPr/>
        </p:nvSpPr>
        <p:spPr>
          <a:xfrm>
            <a:off x="594360" y="13258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3000" dirty="0"/>
          </a:p>
        </p:txBody>
      </p:sp>
      <p:sp>
        <p:nvSpPr>
          <p:cNvPr id="6" name="Etiqueta 1"/>
          <p:cNvSpPr txBox="1"/>
          <p:nvPr/>
        </p:nvSpPr>
        <p:spPr>
          <a:xfrm>
            <a:off x="1691640" y="132588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en verde</a:t>
            </a:r>
            <a:endParaRPr lang="en-US" sz="1200" dirty="0"/>
          </a:p>
        </p:txBody>
      </p:sp>
      <p:sp>
        <p:nvSpPr>
          <p:cNvPr id="7" name="Tarjeta dato 2"/>
          <p:cNvSpPr/>
          <p:nvPr/>
        </p:nvSpPr>
        <p:spPr>
          <a:xfrm>
            <a:off x="457200" y="2423160"/>
            <a:ext cx="24688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ifra 2"/>
          <p:cNvSpPr txBox="1"/>
          <p:nvPr/>
        </p:nvSpPr>
        <p:spPr>
          <a:xfrm>
            <a:off x="594360" y="242316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3000" dirty="0"/>
          </a:p>
        </p:txBody>
      </p:sp>
      <p:sp>
        <p:nvSpPr>
          <p:cNvPr id="9" name="Etiqueta 2"/>
          <p:cNvSpPr txBox="1"/>
          <p:nvPr/>
        </p:nvSpPr>
        <p:spPr>
          <a:xfrm>
            <a:off x="1691640" y="242316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en 18 archivos fuente</a:t>
            </a:r>
            <a:endParaRPr lang="en-US" sz="1200" dirty="0"/>
          </a:p>
        </p:txBody>
      </p:sp>
      <p:sp>
        <p:nvSpPr>
          <p:cNvPr id="10" name="Tarjeta dato 3"/>
          <p:cNvSpPr/>
          <p:nvPr/>
        </p:nvSpPr>
        <p:spPr>
          <a:xfrm>
            <a:off x="457200" y="3520440"/>
            <a:ext cx="24688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fra 3"/>
          <p:cNvSpPr txBox="1"/>
          <p:nvPr/>
        </p:nvSpPr>
        <p:spPr>
          <a:xfrm>
            <a:off x="594360" y="352044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654</a:t>
            </a:r>
            <a:endParaRPr lang="en-US" sz="3000" dirty="0"/>
          </a:p>
        </p:txBody>
      </p:sp>
      <p:sp>
        <p:nvSpPr>
          <p:cNvPr id="12" name="Etiqueta 3"/>
          <p:cNvSpPr txBox="1"/>
          <p:nvPr/>
        </p:nvSpPr>
        <p:spPr>
          <a:xfrm>
            <a:off x="1691640" y="352044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código de producción</a:t>
            </a:r>
            <a:endParaRPr lang="en-US" sz="1200" dirty="0"/>
          </a:p>
        </p:txBody>
      </p:sp>
      <p:sp>
        <p:nvSpPr>
          <p:cNvPr id="13" name="Título gráfico cobertura"/>
          <p:cNvSpPr txBox="1"/>
          <p:nvPr/>
        </p:nvSpPr>
        <p:spPr>
          <a:xfrm>
            <a:off x="3383280" y="1280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actual (%)</a:t>
            </a:r>
            <a:endParaRPr lang="en-US" sz="16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291840" y="160020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Umbrales"/>
          <p:cNvSpPr txBox="1"/>
          <p:nvPr/>
        </p:nvSpPr>
        <p:spPr>
          <a:xfrm>
            <a:off x="3383280" y="4114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del gate: 80 %  ·  umbral de Gradle: 90 % (instrucciones)</a:t>
            </a:r>
            <a:endParaRPr lang="en-US" sz="1300" dirty="0"/>
          </a:p>
        </p:txBody>
      </p:sp>
      <p:sp>
        <p:nvSpPr>
          <p:cNvPr id="16" name="Stack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Gradle 9.7.1 · interfaz Swing y consola · diseño SOLID con patrón MVP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Karate sin API HTTP</a:t>
            </a:r>
            <a:endParaRPr lang="en-US" sz="3200" dirty="0"/>
          </a:p>
        </p:txBody>
      </p:sp>
      <p:sp>
        <p:nvSpPr>
          <p:cNvPr id="4" name="Tarjeta features"/>
          <p:cNvSpPr/>
          <p:nvPr/>
        </p:nvSpPr>
        <p:spPr>
          <a:xfrm>
            <a:off x="457200" y="1371600"/>
            <a:ext cx="2011680" cy="3108960"/>
          </a:xfrm>
          <a:prstGeom prst="roundRect">
            <a:avLst>
              <a:gd name="adj" fmla="val 545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eatures título"/>
          <p:cNvSpPr txBox="1"/>
          <p:nvPr/>
        </p:nvSpPr>
        <p:spPr>
          <a:xfrm>
            <a:off x="59436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2000" dirty="0"/>
          </a:p>
        </p:txBody>
      </p:sp>
      <p:sp>
        <p:nvSpPr>
          <p:cNvPr id="6" name="Features detalle"/>
          <p:cNvSpPr txBox="1"/>
          <p:nvPr/>
        </p:nvSpPr>
        <p:spPr>
          <a:xfrm>
            <a:off x="59436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.feature en Gherkin</a:t>
            </a:r>
            <a:endParaRPr lang="en-US" sz="1400" dirty="0"/>
          </a:p>
        </p:txBody>
      </p:sp>
      <p:sp>
        <p:nvSpPr>
          <p:cNvPr id="7" name="Driver 1"/>
          <p:cNvSpPr/>
          <p:nvPr/>
        </p:nvSpPr>
        <p:spPr>
          <a:xfrm>
            <a:off x="2926080" y="137160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Driver texto 1"/>
          <p:cNvSpPr txBox="1"/>
          <p:nvPr/>
        </p:nvSpPr>
        <p:spPr>
          <a:xfrm>
            <a:off x="3063240" y="148132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CalculatorDriver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del motor</a:t>
            </a:r>
            <a:endParaRPr lang="en-US" sz="1600" dirty="0"/>
          </a:p>
        </p:txBody>
      </p:sp>
      <p:sp>
        <p:nvSpPr>
          <p:cNvPr id="9" name="Flecha a driver 1"/>
          <p:cNvSpPr txBox="1"/>
          <p:nvPr/>
        </p:nvSpPr>
        <p:spPr>
          <a:xfrm>
            <a:off x="246888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Flecha a app 1"/>
          <p:cNvSpPr txBox="1"/>
          <p:nvPr/>
        </p:nvSpPr>
        <p:spPr>
          <a:xfrm>
            <a:off x="566928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Aplicación 1"/>
          <p:cNvSpPr/>
          <p:nvPr/>
        </p:nvSpPr>
        <p:spPr>
          <a:xfrm>
            <a:off x="6126480" y="137160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Aplicación texto 1"/>
          <p:cNvSpPr txBox="1"/>
          <p:nvPr/>
        </p:nvSpPr>
        <p:spPr>
          <a:xfrm>
            <a:off x="6263640" y="14813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operaciones, errores, historial</a:t>
            </a:r>
            <a:endParaRPr lang="en-US" sz="1600" dirty="0"/>
          </a:p>
        </p:txBody>
      </p:sp>
      <p:sp>
        <p:nvSpPr>
          <p:cNvPr id="13" name="Driver 2"/>
          <p:cNvSpPr/>
          <p:nvPr/>
        </p:nvSpPr>
        <p:spPr>
          <a:xfrm>
            <a:off x="2926080" y="242316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Driver texto 2"/>
          <p:cNvSpPr txBox="1"/>
          <p:nvPr/>
        </p:nvSpPr>
        <p:spPr>
          <a:xfrm>
            <a:off x="3063240" y="253288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PresenterDriver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 de teclas</a:t>
            </a:r>
            <a:endParaRPr lang="en-US" sz="1600" dirty="0"/>
          </a:p>
        </p:txBody>
      </p:sp>
      <p:sp>
        <p:nvSpPr>
          <p:cNvPr id="15" name="Flecha a driver 2"/>
          <p:cNvSpPr txBox="1"/>
          <p:nvPr/>
        </p:nvSpPr>
        <p:spPr>
          <a:xfrm>
            <a:off x="2468880" y="2697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Flecha a app 2"/>
          <p:cNvSpPr txBox="1"/>
          <p:nvPr/>
        </p:nvSpPr>
        <p:spPr>
          <a:xfrm>
            <a:off x="5669280" y="2697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Aplicación 2"/>
          <p:cNvSpPr/>
          <p:nvPr/>
        </p:nvSpPr>
        <p:spPr>
          <a:xfrm>
            <a:off x="6126480" y="242316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Aplicación texto 2"/>
          <p:cNvSpPr txBox="1"/>
          <p:nvPr/>
        </p:nvSpPr>
        <p:spPr>
          <a:xfrm>
            <a:off x="6263640" y="25328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CalculatorPresenter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y errores, sin ventana</a:t>
            </a:r>
            <a:endParaRPr lang="en-US" sz="1600" dirty="0"/>
          </a:p>
        </p:txBody>
      </p:sp>
      <p:sp>
        <p:nvSpPr>
          <p:cNvPr id="19" name="Driver 3"/>
          <p:cNvSpPr/>
          <p:nvPr/>
        </p:nvSpPr>
        <p:spPr>
          <a:xfrm>
            <a:off x="2926080" y="3474720"/>
            <a:ext cx="27432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Driver texto 3"/>
          <p:cNvSpPr txBox="1"/>
          <p:nvPr/>
        </p:nvSpPr>
        <p:spPr>
          <a:xfrm>
            <a:off x="3063240" y="358444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CliDriver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de terminal</a:t>
            </a:r>
            <a:endParaRPr lang="en-US" sz="1600" dirty="0"/>
          </a:p>
        </p:txBody>
      </p:sp>
      <p:sp>
        <p:nvSpPr>
          <p:cNvPr id="21" name="Flecha a driver 3"/>
          <p:cNvSpPr txBox="1"/>
          <p:nvPr/>
        </p:nvSpPr>
        <p:spPr>
          <a:xfrm>
            <a:off x="2468880" y="3749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Flecha a app 3"/>
          <p:cNvSpPr txBox="1"/>
          <p:nvPr/>
        </p:nvSpPr>
        <p:spPr>
          <a:xfrm>
            <a:off x="5669280" y="3749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Aplicación 3"/>
          <p:cNvSpPr/>
          <p:nvPr/>
        </p:nvSpPr>
        <p:spPr>
          <a:xfrm>
            <a:off x="6126480" y="347472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Aplicación texto 3"/>
          <p:cNvSpPr txBox="1"/>
          <p:nvPr/>
        </p:nvSpPr>
        <p:spPr>
          <a:xfrm>
            <a:off x="6263640" y="35844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--cli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consola real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130 ejecuciones en 7 features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otal ejecuciones"/>
          <p:cNvSpPr txBox="1"/>
          <p:nvPr/>
        </p:nvSpPr>
        <p:spPr>
          <a:xfrm>
            <a:off x="6217920" y="1463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6600" dirty="0"/>
          </a:p>
        </p:txBody>
      </p:sp>
      <p:sp>
        <p:nvSpPr>
          <p:cNvPr id="6" name="Etiqueta total"/>
          <p:cNvSpPr txBox="1"/>
          <p:nvPr/>
        </p:nvSpPr>
        <p:spPr>
          <a:xfrm>
            <a:off x="621792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ejecuciones de escenario</a:t>
            </a:r>
            <a:endParaRPr lang="en-US" sz="1600" dirty="0"/>
          </a:p>
        </p:txBody>
      </p:sp>
      <p:sp>
        <p:nvSpPr>
          <p:cNvPr id="7" name="Resumen suite"/>
          <p:cNvSpPr txBox="1"/>
          <p:nvPr/>
        </p:nvSpPr>
        <p:spPr>
          <a:xfrm>
            <a:off x="621792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definiciones de escenario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feliz y excepcional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Motor, interfaz y consola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Un escenario Karate</a:t>
            </a:r>
            <a:endParaRPr lang="en-US" sz="3200" dirty="0"/>
          </a:p>
        </p:txBody>
      </p:sp>
      <p:sp>
        <p:nvSpPr>
          <p:cNvPr id="4" name="Caja código"/>
          <p:cNvSpPr/>
          <p:nvPr/>
        </p:nvSpPr>
        <p:spPr>
          <a:xfrm>
            <a:off x="457200" y="1371600"/>
            <a:ext cx="521208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ódigo Gherkin"/>
          <p:cNvSpPr txBox="1"/>
          <p:nvPr/>
        </p:nvSpPr>
        <p:spPr>
          <a:xfrm>
            <a:off x="640080" y="15544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Outline: Division de &lt;a&gt; / &lt;b&gt;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 calc.calculate('/', &lt;a&gt;, &lt;b&gt;)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 match calc.errorType() ==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 match calc.result() == '&lt;esperado&gt;'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Examples: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a  | b | esperado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10 | 4 | 2.5         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1  | 3 | 0.3333333333 |</a:t>
            </a:r>
            <a:endParaRPr lang="en-US" sz="1200" dirty="0"/>
          </a:p>
        </p:txBody>
      </p:sp>
      <p:sp>
        <p:nvSpPr>
          <p:cNvPr id="6" name="Ideas ejemplo"/>
          <p:cNvSpPr txBox="1"/>
          <p:nvPr/>
        </p:nvSpPr>
        <p:spPr>
          <a:xfrm>
            <a:off x="5943600" y="14630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natural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/ Cuando / Entonces, entendible sin leer Java.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fila, un caso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límite se agregan sin tocar código.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verificables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errorType() permite afirmar el camino excepcional.</a:t>
            </a:r>
            <a:endParaRPr lang="en-US" sz="1400" dirty="0"/>
          </a:p>
        </p:txBody>
      </p:sp>
      <p:sp>
        <p:nvSpPr>
          <p:cNvPr id="7" name="Etiquetas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para ejecutar por grupos: @smoke  @happy-path  @exceptional-path  @motor  @ui  @cli  @historial  @ocp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Cómo ejecutarlas</a:t>
            </a:r>
            <a:endParaRPr lang="en-US" sz="3200" dirty="0"/>
          </a:p>
        </p:txBody>
      </p:sp>
      <p:sp>
        <p:nvSpPr>
          <p:cNvPr id="4" name="Etiqueta ejecución 1"/>
          <p:cNvSpPr txBox="1"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suite</a:t>
            </a:r>
            <a:endParaRPr lang="en-US" sz="1800" dirty="0"/>
          </a:p>
        </p:txBody>
      </p:sp>
      <p:sp>
        <p:nvSpPr>
          <p:cNvPr id="5" name="Caja comando 1"/>
          <p:cNvSpPr/>
          <p:nvPr/>
        </p:nvSpPr>
        <p:spPr>
          <a:xfrm>
            <a:off x="2560320" y="1371600"/>
            <a:ext cx="6126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omando 1"/>
          <p:cNvSpPr txBox="1"/>
          <p:nvPr/>
        </p:nvSpPr>
        <p:spPr>
          <a:xfrm>
            <a:off x="2743200" y="1371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acceptanceTest</a:t>
            </a:r>
            <a:endParaRPr lang="en-US" sz="1300" dirty="0"/>
          </a:p>
        </p:txBody>
      </p:sp>
      <p:sp>
        <p:nvSpPr>
          <p:cNvPr id="7" name="Etiqueta ejecución 2"/>
          <p:cNvSpPr txBox="1"/>
          <p:nvPr/>
        </p:nvSpPr>
        <p:spPr>
          <a:xfrm>
            <a:off x="457200" y="2423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grupo</a:t>
            </a:r>
            <a:endParaRPr lang="en-US" sz="1800" dirty="0"/>
          </a:p>
        </p:txBody>
      </p:sp>
      <p:sp>
        <p:nvSpPr>
          <p:cNvPr id="8" name="Caja comando 2"/>
          <p:cNvSpPr/>
          <p:nvPr/>
        </p:nvSpPr>
        <p:spPr>
          <a:xfrm>
            <a:off x="2560320" y="2423160"/>
            <a:ext cx="6126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mando 2"/>
          <p:cNvSpPr txBox="1"/>
          <p:nvPr/>
        </p:nvSpPr>
        <p:spPr>
          <a:xfrm>
            <a:off x="2743200" y="242316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acceptanceTest -Dkarate.options='--tags @exceptional-path'</a:t>
            </a:r>
            <a:endParaRPr lang="en-US" sz="1300" dirty="0"/>
          </a:p>
        </p:txBody>
      </p:sp>
      <p:sp>
        <p:nvSpPr>
          <p:cNvPr id="10" name="Etiqueta ejecución 3"/>
          <p:cNvSpPr txBox="1"/>
          <p:nvPr/>
        </p:nvSpPr>
        <p:spPr>
          <a:xfrm>
            <a:off x="45720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HTML</a:t>
            </a:r>
            <a:endParaRPr lang="en-US" sz="1800" dirty="0"/>
          </a:p>
        </p:txBody>
      </p:sp>
      <p:sp>
        <p:nvSpPr>
          <p:cNvPr id="11" name="Caja comando 3"/>
          <p:cNvSpPr/>
          <p:nvPr/>
        </p:nvSpPr>
        <p:spPr>
          <a:xfrm>
            <a:off x="2560320" y="3474720"/>
            <a:ext cx="61264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omando 3"/>
          <p:cNvSpPr txBox="1"/>
          <p:nvPr/>
        </p:nvSpPr>
        <p:spPr>
          <a:xfrm>
            <a:off x="2743200" y="3474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build/karate-reports/karate-summary.html</a:t>
            </a:r>
            <a:endParaRPr lang="en-US" sz="1300" dirty="0"/>
          </a:p>
        </p:txBody>
      </p:sp>
      <p:sp>
        <p:nvSpPr>
          <p:cNvPr id="13" name="Nota cobertura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cobertura de Karate se suma a la de las pruebas unitarias para el análisis de Sonar.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Quality Gate</a:t>
            </a:r>
            <a:endParaRPr lang="en-US" sz="3200" dirty="0"/>
          </a:p>
        </p:txBody>
      </p:sp>
      <p:sp>
        <p:nvSpPr>
          <p:cNvPr id="4" name="Tarjeta Código nuevo"/>
          <p:cNvSpPr/>
          <p:nvPr/>
        </p:nvSpPr>
        <p:spPr>
          <a:xfrm>
            <a:off x="457200" y="1371600"/>
            <a:ext cx="402336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ítulo Código nuevo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nuevo</a:t>
            </a:r>
            <a:endParaRPr lang="en-US" sz="2200" dirty="0"/>
          </a:p>
        </p:txBody>
      </p:sp>
      <p:sp>
        <p:nvSpPr>
          <p:cNvPr id="6" name="Condiciones Código nuevo"/>
          <p:cNvSpPr txBox="1"/>
          <p:nvPr/>
        </p:nvSpPr>
        <p:spPr>
          <a:xfrm>
            <a:off x="731520" y="21488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≥ 80 %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nuevos = 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Duplicación ≤ 3 %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Fiabilidad, seguridad y mantenibilidad: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 revisados: 100 %</a:t>
            </a:r>
            <a:endParaRPr lang="en-US" sz="1600" dirty="0"/>
          </a:p>
        </p:txBody>
      </p:sp>
      <p:sp>
        <p:nvSpPr>
          <p:cNvPr id="7" name="Tarjeta Código total"/>
          <p:cNvSpPr/>
          <p:nvPr/>
        </p:nvSpPr>
        <p:spPr>
          <a:xfrm>
            <a:off x="4663440" y="1371600"/>
            <a:ext cx="402336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ítulo Código total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total</a:t>
            </a:r>
            <a:endParaRPr lang="en-US" sz="2200" dirty="0"/>
          </a:p>
        </p:txBody>
      </p:sp>
      <p:sp>
        <p:nvSpPr>
          <p:cNvPr id="9" name="Condiciones Código total"/>
          <p:cNvSpPr txBox="1"/>
          <p:nvPr/>
        </p:nvSpPr>
        <p:spPr>
          <a:xfrm>
            <a:off x="4937760" y="214884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≥ 80 %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ciclomática ≤ 250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cognitiva ≤ 120</a:t>
            </a:r>
            <a:endParaRPr lang="en-US" sz="1600" dirty="0"/>
          </a:p>
        </p:txBody>
      </p:sp>
      <p:sp>
        <p:nvSpPr>
          <p:cNvPr id="10" name="Nota gate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condiciones en total. Si el gate falla, el análisis falla (sonar.qualitygate.wait = true).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Quality Profile y métricas</a:t>
            </a:r>
            <a:endParaRPr lang="en-US" sz="3200" dirty="0"/>
          </a:p>
        </p:txBody>
      </p:sp>
      <p:sp>
        <p:nvSpPr>
          <p:cNvPr id="4" name="Tarjeta Ciclomática"/>
          <p:cNvSpPr/>
          <p:nvPr/>
        </p:nvSpPr>
        <p:spPr>
          <a:xfrm>
            <a:off x="45720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étrica Ciclomática"/>
          <p:cNvSpPr txBox="1"/>
          <p:nvPr/>
        </p:nvSpPr>
        <p:spPr>
          <a:xfrm>
            <a:off x="68580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Ciclomática</a:t>
            </a:r>
            <a:endParaRPr lang="en-US" sz="2000" dirty="0"/>
          </a:p>
        </p:txBody>
      </p:sp>
      <p:sp>
        <p:nvSpPr>
          <p:cNvPr id="6" name="Umbral Ciclomática"/>
          <p:cNvSpPr txBox="1"/>
          <p:nvPr/>
        </p:nvSpPr>
        <p:spPr>
          <a:xfrm>
            <a:off x="68580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</a:t>
            </a:r>
            <a:endParaRPr lang="en-US" sz="4400" dirty="0"/>
          </a:p>
        </p:txBody>
      </p:sp>
      <p:sp>
        <p:nvSpPr>
          <p:cNvPr id="7" name="Alcance Ciclomática"/>
          <p:cNvSpPr txBox="1"/>
          <p:nvPr/>
        </p:nvSpPr>
        <p:spPr>
          <a:xfrm>
            <a:off x="68580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método</a:t>
            </a:r>
            <a:endParaRPr lang="en-US" sz="1400" dirty="0"/>
          </a:p>
        </p:txBody>
      </p:sp>
      <p:sp>
        <p:nvSpPr>
          <p:cNvPr id="8" name="Fuente Ciclomática"/>
          <p:cNvSpPr txBox="1"/>
          <p:nvPr/>
        </p:nvSpPr>
        <p:spPr>
          <a:xfrm>
            <a:off x="68580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java:S1541 · Major</a:t>
            </a:r>
            <a:endParaRPr lang="en-US" sz="1200" dirty="0"/>
          </a:p>
        </p:txBody>
      </p:sp>
      <p:sp>
        <p:nvSpPr>
          <p:cNvPr id="9" name="Tarjeta Cognitiva"/>
          <p:cNvSpPr/>
          <p:nvPr/>
        </p:nvSpPr>
        <p:spPr>
          <a:xfrm>
            <a:off x="329184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étrica Cognitiva"/>
          <p:cNvSpPr txBox="1"/>
          <p:nvPr/>
        </p:nvSpPr>
        <p:spPr>
          <a:xfrm>
            <a:off x="352044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Cognitiva</a:t>
            </a:r>
            <a:endParaRPr lang="en-US" sz="2000" dirty="0"/>
          </a:p>
        </p:txBody>
      </p:sp>
      <p:sp>
        <p:nvSpPr>
          <p:cNvPr id="11" name="Umbral Cognitiva"/>
          <p:cNvSpPr txBox="1"/>
          <p:nvPr/>
        </p:nvSpPr>
        <p:spPr>
          <a:xfrm>
            <a:off x="352044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</a:t>
            </a:r>
            <a:endParaRPr lang="en-US" sz="4400" dirty="0"/>
          </a:p>
        </p:txBody>
      </p:sp>
      <p:sp>
        <p:nvSpPr>
          <p:cNvPr id="12" name="Alcance Cognitiva"/>
          <p:cNvSpPr txBox="1"/>
          <p:nvPr/>
        </p:nvSpPr>
        <p:spPr>
          <a:xfrm>
            <a:off x="35204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método</a:t>
            </a:r>
            <a:endParaRPr lang="en-US" sz="1400" dirty="0"/>
          </a:p>
        </p:txBody>
      </p:sp>
      <p:sp>
        <p:nvSpPr>
          <p:cNvPr id="13" name="Fuente Cognitiva"/>
          <p:cNvSpPr txBox="1"/>
          <p:nvPr/>
        </p:nvSpPr>
        <p:spPr>
          <a:xfrm>
            <a:off x="352044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java:S3776 · Critical</a:t>
            </a:r>
            <a:endParaRPr lang="en-US" sz="1200" dirty="0"/>
          </a:p>
        </p:txBody>
      </p:sp>
      <p:sp>
        <p:nvSpPr>
          <p:cNvPr id="14" name="Tarjeta Cobertura"/>
          <p:cNvSpPr/>
          <p:nvPr/>
        </p:nvSpPr>
        <p:spPr>
          <a:xfrm>
            <a:off x="612648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étrica Cobertura"/>
          <p:cNvSpPr txBox="1"/>
          <p:nvPr/>
        </p:nvSpPr>
        <p:spPr>
          <a:xfrm>
            <a:off x="6355080" y="1508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2000" dirty="0"/>
          </a:p>
        </p:txBody>
      </p:sp>
      <p:sp>
        <p:nvSpPr>
          <p:cNvPr id="16" name="Umbral Cobertura"/>
          <p:cNvSpPr txBox="1"/>
          <p:nvPr/>
        </p:nvSpPr>
        <p:spPr>
          <a:xfrm>
            <a:off x="6355080" y="19659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80 %</a:t>
            </a:r>
            <a:endParaRPr lang="en-US" sz="4400" dirty="0"/>
          </a:p>
        </p:txBody>
      </p:sp>
      <p:sp>
        <p:nvSpPr>
          <p:cNvPr id="17" name="Alcance Cobertura"/>
          <p:cNvSpPr txBox="1"/>
          <p:nvPr/>
        </p:nvSpPr>
        <p:spPr>
          <a:xfrm>
            <a:off x="635508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 código nuevo</a:t>
            </a:r>
            <a:endParaRPr lang="en-US" sz="1400" dirty="0"/>
          </a:p>
        </p:txBody>
      </p:sp>
      <p:sp>
        <p:nvSpPr>
          <p:cNvPr id="18" name="Fuente Cobertura"/>
          <p:cNvSpPr txBox="1"/>
          <p:nvPr/>
        </p:nvSpPr>
        <p:spPr>
          <a:xfrm>
            <a:off x="635508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del Quality Gate</a:t>
            </a:r>
            <a:endParaRPr lang="en-US" sz="1200" dirty="0"/>
          </a:p>
        </p:txBody>
      </p:sp>
      <p:sp>
        <p:nvSpPr>
          <p:cNvPr id="19" name="Resumen perfil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“Calculadora Java Profile” = copia de Sonar way comprehensive + reglas de complejidad con umbral propio.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profile detecta, el gate bloquea</a:t>
            </a:r>
            <a:endParaRPr lang="en-US" sz="3200" dirty="0"/>
          </a:p>
        </p:txBody>
      </p:sp>
      <p:sp>
        <p:nvSpPr>
          <p:cNvPr id="4" name="Etapa Quality Profile"/>
          <p:cNvSpPr/>
          <p:nvPr/>
        </p:nvSpPr>
        <p:spPr>
          <a:xfrm>
            <a:off x="457200" y="1554480"/>
            <a:ext cx="2377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tapa título 1"/>
          <p:cNvSpPr txBox="1"/>
          <p:nvPr/>
        </p:nvSpPr>
        <p:spPr>
          <a:xfrm>
            <a:off x="64008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Profile</a:t>
            </a:r>
            <a:endParaRPr lang="en-US" sz="2000" dirty="0"/>
          </a:p>
        </p:txBody>
      </p:sp>
      <p:sp>
        <p:nvSpPr>
          <p:cNvPr id="6" name="Etapa verbo 1"/>
          <p:cNvSpPr txBox="1"/>
          <p:nvPr/>
        </p:nvSpPr>
        <p:spPr>
          <a:xfrm>
            <a:off x="6400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</a:t>
            </a:r>
            <a:endParaRPr lang="en-US" sz="1200" dirty="0"/>
          </a:p>
        </p:txBody>
      </p:sp>
      <p:sp>
        <p:nvSpPr>
          <p:cNvPr id="7" name="Etapa detalle 1"/>
          <p:cNvSpPr txBox="1"/>
          <p:nvPr/>
        </p:nvSpPr>
        <p:spPr>
          <a:xfrm>
            <a:off x="685800" y="2606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con ciclomática &gt; 10 o cognitiva &gt; 15</a:t>
            </a:r>
            <a:endParaRPr lang="en-US" sz="1400" dirty="0"/>
          </a:p>
        </p:txBody>
      </p:sp>
      <p:sp>
        <p:nvSpPr>
          <p:cNvPr id="8" name="Flecha etapa 1"/>
          <p:cNvSpPr txBox="1"/>
          <p:nvPr/>
        </p:nvSpPr>
        <p:spPr>
          <a:xfrm>
            <a:off x="283464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Etapa Issue nuevo"/>
          <p:cNvSpPr/>
          <p:nvPr/>
        </p:nvSpPr>
        <p:spPr>
          <a:xfrm>
            <a:off x="3383280" y="1554480"/>
            <a:ext cx="2377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tapa título 2"/>
          <p:cNvSpPr txBox="1"/>
          <p:nvPr/>
        </p:nvSpPr>
        <p:spPr>
          <a:xfrm>
            <a:off x="356616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nuevo</a:t>
            </a:r>
            <a:endParaRPr lang="en-US" sz="2000" dirty="0"/>
          </a:p>
        </p:txBody>
      </p:sp>
      <p:sp>
        <p:nvSpPr>
          <p:cNvPr id="11" name="Etapa verbo 2"/>
          <p:cNvSpPr txBox="1"/>
          <p:nvPr/>
        </p:nvSpPr>
        <p:spPr>
          <a:xfrm>
            <a:off x="35661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REPORTA</a:t>
            </a:r>
            <a:endParaRPr lang="en-US" sz="1200" dirty="0"/>
          </a:p>
        </p:txBody>
      </p:sp>
      <p:sp>
        <p:nvSpPr>
          <p:cNvPr id="12" name="Etapa detalle 2"/>
          <p:cNvSpPr txBox="1"/>
          <p:nvPr/>
        </p:nvSpPr>
        <p:spPr>
          <a:xfrm>
            <a:off x="3611880" y="2606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 en el código nuevo del análisis</a:t>
            </a:r>
            <a:endParaRPr lang="en-US" sz="1400" dirty="0"/>
          </a:p>
        </p:txBody>
      </p:sp>
      <p:sp>
        <p:nvSpPr>
          <p:cNvPr id="13" name="Flecha etapa 2"/>
          <p:cNvSpPr txBox="1"/>
          <p:nvPr/>
        </p:nvSpPr>
        <p:spPr>
          <a:xfrm>
            <a:off x="576072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Etapa Quality Gate"/>
          <p:cNvSpPr/>
          <p:nvPr/>
        </p:nvSpPr>
        <p:spPr>
          <a:xfrm>
            <a:off x="6309360" y="1554480"/>
            <a:ext cx="2377440" cy="219456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Etapa título 3"/>
          <p:cNvSpPr txBox="1"/>
          <p:nvPr/>
        </p:nvSpPr>
        <p:spPr>
          <a:xfrm>
            <a:off x="649224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2000" dirty="0"/>
          </a:p>
        </p:txBody>
      </p:sp>
      <p:sp>
        <p:nvSpPr>
          <p:cNvPr id="16" name="Etapa verbo 3"/>
          <p:cNvSpPr txBox="1"/>
          <p:nvPr/>
        </p:nvSpPr>
        <p:spPr>
          <a:xfrm>
            <a:off x="649224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</a:t>
            </a:r>
            <a:endParaRPr lang="en-US" sz="1200" dirty="0"/>
          </a:p>
        </p:txBody>
      </p:sp>
      <p:sp>
        <p:nvSpPr>
          <p:cNvPr id="17" name="Etapa detalle 3"/>
          <p:cNvSpPr txBox="1"/>
          <p:nvPr/>
        </p:nvSpPr>
        <p:spPr>
          <a:xfrm>
            <a:off x="6537960" y="2606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new_violations = 0 + topes globales 250 / 120 / 80 %</a:t>
            </a:r>
            <a:endParaRPr lang="en-US" sz="1400" dirty="0"/>
          </a:p>
        </p:txBody>
      </p:sp>
      <p:sp>
        <p:nvSpPr>
          <p:cNvPr id="18" name="Conclusión gate-profile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la complejidad se controla método a método, y el total del sistema no crece sin control.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dónde salen 250 y 120</a:t>
            </a:r>
            <a:endParaRPr lang="en-US" sz="3200" dirty="0"/>
          </a:p>
        </p:txBody>
      </p:sp>
      <p:sp>
        <p:nvSpPr>
          <p:cNvPr id="4" name="Tarjeta cal 1"/>
          <p:cNvSpPr/>
          <p:nvPr/>
        </p:nvSpPr>
        <p:spPr>
          <a:xfrm>
            <a:off x="45720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fra cal 1"/>
          <p:cNvSpPr txBox="1"/>
          <p:nvPr/>
        </p:nvSpPr>
        <p:spPr>
          <a:xfrm>
            <a:off x="64008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4800" dirty="0"/>
          </a:p>
        </p:txBody>
      </p:sp>
      <p:sp>
        <p:nvSpPr>
          <p:cNvPr id="6" name="Etiqueta cal 1"/>
          <p:cNvSpPr txBox="1"/>
          <p:nvPr/>
        </p:nvSpPr>
        <p:spPr>
          <a:xfrm>
            <a:off x="64008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ciclomática total (tope 250)</a:t>
            </a:r>
            <a:endParaRPr lang="en-US" sz="1400" dirty="0"/>
          </a:p>
        </p:txBody>
      </p:sp>
      <p:sp>
        <p:nvSpPr>
          <p:cNvPr id="7" name="Tarjeta cal 2"/>
          <p:cNvSpPr/>
          <p:nvPr/>
        </p:nvSpPr>
        <p:spPr>
          <a:xfrm>
            <a:off x="329184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ifra cal 2"/>
          <p:cNvSpPr txBox="1"/>
          <p:nvPr/>
        </p:nvSpPr>
        <p:spPr>
          <a:xfrm>
            <a:off x="347472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4800" dirty="0"/>
          </a:p>
        </p:txBody>
      </p:sp>
      <p:sp>
        <p:nvSpPr>
          <p:cNvPr id="9" name="Etiqueta cal 2"/>
          <p:cNvSpPr txBox="1"/>
          <p:nvPr/>
        </p:nvSpPr>
        <p:spPr>
          <a:xfrm>
            <a:off x="347472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cognitiva total (tope 120)</a:t>
            </a:r>
            <a:endParaRPr lang="en-US" sz="1400" dirty="0"/>
          </a:p>
        </p:txBody>
      </p:sp>
      <p:sp>
        <p:nvSpPr>
          <p:cNvPr id="10" name="Tarjeta cal 3"/>
          <p:cNvSpPr/>
          <p:nvPr/>
        </p:nvSpPr>
        <p:spPr>
          <a:xfrm>
            <a:off x="6126480" y="137160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fra cal 3"/>
          <p:cNvSpPr txBox="1"/>
          <p:nvPr/>
        </p:nvSpPr>
        <p:spPr>
          <a:xfrm>
            <a:off x="630936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800" dirty="0"/>
          </a:p>
        </p:txBody>
      </p:sp>
      <p:sp>
        <p:nvSpPr>
          <p:cNvPr id="12" name="Etiqueta cal 3"/>
          <p:cNvSpPr txBox="1"/>
          <p:nvPr/>
        </p:nvSpPr>
        <p:spPr>
          <a:xfrm>
            <a:off x="630936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por método: Main::runConsole</a:t>
            </a:r>
            <a:endParaRPr lang="en-US" sz="1400" dirty="0"/>
          </a:p>
        </p:txBody>
      </p:sp>
      <p:sp>
        <p:nvSpPr>
          <p:cNvPr id="13" name="Criterios calibración"/>
          <p:cNvSpPr txBox="1"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ciclomático 250: medido 136, margen de crecimiento cercano al 80 %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cognitivo 120: medido 83, margen cercano al 45 %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método: 10 y 15; hoy ningún método supera 10, y runConsole está justo en el límite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Del commit al semáforo</a:t>
            </a:r>
            <a:endParaRPr lang="en-US" sz="3200" dirty="0"/>
          </a:p>
        </p:txBody>
      </p:sp>
      <p:sp>
        <p:nvSpPr>
          <p:cNvPr id="4" name="Conector 1"/>
          <p:cNvSpPr/>
          <p:nvPr/>
        </p:nvSpPr>
        <p:spPr>
          <a:xfrm>
            <a:off x="1234440" y="1828800"/>
            <a:ext cx="9144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Paso 1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úmero paso 1"/>
          <p:cNvSpPr txBox="1"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Etiqueta paso 1"/>
          <p:cNvSpPr txBox="1"/>
          <p:nvPr/>
        </p:nvSpPr>
        <p:spPr>
          <a:xfrm>
            <a:off x="45720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 pull request</a:t>
            </a:r>
            <a:endParaRPr lang="en-US" sz="1400" dirty="0"/>
          </a:p>
        </p:txBody>
      </p:sp>
      <p:sp>
        <p:nvSpPr>
          <p:cNvPr id="8" name="Conector 2"/>
          <p:cNvSpPr/>
          <p:nvPr/>
        </p:nvSpPr>
        <p:spPr>
          <a:xfrm>
            <a:off x="2926080" y="1828800"/>
            <a:ext cx="9144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9" name="Paso 2"/>
          <p:cNvSpPr/>
          <p:nvPr/>
        </p:nvSpPr>
        <p:spPr>
          <a:xfrm>
            <a:off x="237744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úmero paso 2"/>
          <p:cNvSpPr txBox="1"/>
          <p:nvPr/>
        </p:nvSpPr>
        <p:spPr>
          <a:xfrm>
            <a:off x="23774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Etiqueta paso 2"/>
          <p:cNvSpPr txBox="1"/>
          <p:nvPr/>
        </p:nvSpPr>
        <p:spPr>
          <a:xfrm>
            <a:off x="214884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y Karate</a:t>
            </a:r>
            <a:endParaRPr lang="en-US" sz="1400" dirty="0"/>
          </a:p>
        </p:txBody>
      </p:sp>
      <p:sp>
        <p:nvSpPr>
          <p:cNvPr id="12" name="Conector 3"/>
          <p:cNvSpPr/>
          <p:nvPr/>
        </p:nvSpPr>
        <p:spPr>
          <a:xfrm>
            <a:off x="4617720" y="1828800"/>
            <a:ext cx="9144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3" name="Paso 3"/>
          <p:cNvSpPr/>
          <p:nvPr/>
        </p:nvSpPr>
        <p:spPr>
          <a:xfrm>
            <a:off x="406908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úmero paso 3"/>
          <p:cNvSpPr txBox="1"/>
          <p:nvPr/>
        </p:nvSpPr>
        <p:spPr>
          <a:xfrm>
            <a:off x="40690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Etiqueta paso 3"/>
          <p:cNvSpPr txBox="1"/>
          <p:nvPr/>
        </p:nvSpPr>
        <p:spPr>
          <a:xfrm>
            <a:off x="384048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JaCoCo</a:t>
            </a:r>
            <a:endParaRPr lang="en-US" sz="1400" dirty="0"/>
          </a:p>
        </p:txBody>
      </p:sp>
      <p:sp>
        <p:nvSpPr>
          <p:cNvPr id="16" name="Conector 4"/>
          <p:cNvSpPr/>
          <p:nvPr/>
        </p:nvSpPr>
        <p:spPr>
          <a:xfrm>
            <a:off x="6309360" y="1828800"/>
            <a:ext cx="9144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7" name="Paso 4"/>
          <p:cNvSpPr/>
          <p:nvPr/>
        </p:nvSpPr>
        <p:spPr>
          <a:xfrm>
            <a:off x="576072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úmero paso 4"/>
          <p:cNvSpPr txBox="1"/>
          <p:nvPr/>
        </p:nvSpPr>
        <p:spPr>
          <a:xfrm>
            <a:off x="57607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Etiqueta paso 4"/>
          <p:cNvSpPr txBox="1"/>
          <p:nvPr/>
        </p:nvSpPr>
        <p:spPr>
          <a:xfrm>
            <a:off x="553212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en SonarCloud</a:t>
            </a:r>
            <a:endParaRPr lang="en-US" sz="1400" dirty="0"/>
          </a:p>
        </p:txBody>
      </p:sp>
      <p:sp>
        <p:nvSpPr>
          <p:cNvPr id="20" name="Paso 5"/>
          <p:cNvSpPr/>
          <p:nvPr/>
        </p:nvSpPr>
        <p:spPr>
          <a:xfrm>
            <a:off x="74523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úmero paso 5"/>
          <p:cNvSpPr txBox="1"/>
          <p:nvPr/>
        </p:nvSpPr>
        <p:spPr>
          <a:xfrm>
            <a:off x="74523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Etiqueta paso 5"/>
          <p:cNvSpPr txBox="1"/>
          <p:nvPr/>
        </p:nvSpPr>
        <p:spPr>
          <a:xfrm>
            <a:off x="722376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400" dirty="0"/>
          </a:p>
        </p:txBody>
      </p:sp>
      <p:sp>
        <p:nvSpPr>
          <p:cNvPr id="23" name="Caja gate"/>
          <p:cNvSpPr/>
          <p:nvPr/>
        </p:nvSpPr>
        <p:spPr>
          <a:xfrm>
            <a:off x="457200" y="320040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o gate"/>
          <p:cNvSpPr txBox="1"/>
          <p:nvPr/>
        </p:nvSpPr>
        <p:spPr>
          <a:xfrm>
            <a:off x="640080" y="3246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gate falla…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falla y el cambio no se integra.</a:t>
            </a:r>
            <a:endParaRPr lang="en-US" sz="1600" dirty="0"/>
          </a:p>
        </p:txBody>
      </p:sp>
      <p:sp>
        <p:nvSpPr>
          <p:cNvPr id="25" name="Caja respaldo"/>
          <p:cNvSpPr/>
          <p:nvPr/>
        </p:nvSpPr>
        <p:spPr>
          <a:xfrm>
            <a:off x="4663440" y="320040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o respaldo"/>
          <p:cNvSpPr txBox="1"/>
          <p:nvPr/>
        </p:nvSpPr>
        <p:spPr>
          <a:xfrm>
            <a:off x="4846320" y="3246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check-metrics.sh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los topes de complejidad y cobertura desde CI, y revisa cada método con lizard.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Estado actual</a:t>
            </a:r>
            <a:endParaRPr lang="en-US" sz="3200" dirty="0"/>
          </a:p>
        </p:txBody>
      </p:sp>
      <p:graphicFrame>
        <p:nvGraphicFramePr>
          <p:cNvPr id="16" name="Tabla estad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Karate (7 features, 130 ejecuciones)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6F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Repositorio en GitHub (carolinacardonaUdeA)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6F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en SonarCloud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6F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Gate “Calculadora Quality Gate”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6F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Profile “Calculadora Java Profile”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6F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Asignación del gate y del profile al proyecto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6F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 · prueba hasta 1 nov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Rama principal en SonarCloud (master → main)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hacer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desde Gradle / 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6F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 · CI en verde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0E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Primer análisis en SonarCloud</a:t>
            </a:r>
            <a:endParaRPr lang="en-US" sz="3200" dirty="0"/>
          </a:p>
        </p:txBody>
      </p:sp>
      <p:graphicFrame>
        <p:nvGraphicFramePr>
          <p:cNvPr id="17" name="Tabla métricas rea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E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de código de producción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medido por SonarCloud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unitarias · 130 Karate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pasan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gate: ≥ 80 %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 ciclomática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gate: ≤ 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 cognitiva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gate: ≤ 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· vulnerabilidades · code smells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gate: 0 issues nuevos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gate: ≤ 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Gate (rama main)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condiciones evaluadas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Límites y próximos pasos</a:t>
            </a:r>
            <a:endParaRPr lang="en-US" sz="3200" dirty="0"/>
          </a:p>
        </p:txBody>
      </p:sp>
      <p:sp>
        <p:nvSpPr>
          <p:cNvPr id="4" name="Título límites"/>
          <p:cNvSpPr txBox="1"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actuales</a:t>
            </a:r>
            <a:endParaRPr lang="en-US" sz="2200" dirty="0"/>
          </a:p>
        </p:txBody>
      </p:sp>
      <p:sp>
        <p:nvSpPr>
          <p:cNvPr id="5" name="Lista límites"/>
          <p:cNvSpPr txBox="1"/>
          <p:nvPr/>
        </p:nvSpPr>
        <p:spPr>
          <a:xfrm>
            <a:off x="457200" y="18288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principal de SonarCloud aún es master; el análisis quedó en una rama corta main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y profile propios: asignados solo durante la prueba del plan Team (hasta el 1 nov.)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Swing sin prueba visual</a:t>
            </a:r>
            <a:endParaRPr lang="en-US" sz="1400" dirty="0"/>
          </a:p>
        </p:txBody>
      </p:sp>
      <p:sp>
        <p:nvSpPr>
          <p:cNvPr id="6" name="Título pasos"/>
          <p:cNvSpPr txBox="1"/>
          <p:nvPr/>
        </p:nvSpPr>
        <p:spPr>
          <a:xfrm>
            <a:off x="475488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200" dirty="0"/>
          </a:p>
        </p:txBody>
      </p:sp>
      <p:sp>
        <p:nvSpPr>
          <p:cNvPr id="7" name="Lista pasos"/>
          <p:cNvSpPr txBox="1"/>
          <p:nvPr/>
        </p:nvSpPr>
        <p:spPr>
          <a:xfrm>
            <a:off x="4754880" y="18288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la rama corta main y renombrar master a main en SonarCloud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 ejecutar el workflow y revisar el gate en la rama principal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1 nov.: plan de pago o check-metrics.sh en plan gratuito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los topes de complejidad si se desea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Preguntas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Karate valida lo que el usuario espera; Sonar cuida que el código siga sano.</a:t>
            </a:r>
            <a:endParaRPr lang="en-US" sz="2200" dirty="0"/>
          </a:p>
        </p:txBody>
      </p:sp>
      <p:sp>
        <p:nvSpPr>
          <p:cNvPr id="4" name="Acento cierre"/>
          <p:cNvSpPr/>
          <p:nvPr/>
        </p:nvSpPr>
        <p:spPr>
          <a:xfrm>
            <a:off x="640080" y="1143000"/>
            <a:ext cx="8229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Entregables"/>
          <p:cNvSpPr txBox="1"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pruebas-aceptacion/ · sonar/ · docs/</a:t>
            </a:r>
            <a:endParaRPr lang="en-US" sz="1400" dirty="0"/>
          </a:p>
        </p:txBody>
      </p:sp>
      <p:sp>
        <p:nvSpPr>
          <p:cNvPr id="6" name="Repositorio final"/>
          <p:cNvSpPr txBox="1"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https://github.com/carolinacardonaUdeA/calidad-software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idad Calculadora">
  <a:themeElements>
    <a:clrScheme name="Calidad Calculadora">
      <a:dk1>
        <a:srgbClr val="1F2933"/>
      </a:dk1>
      <a:lt1>
        <a:srgbClr val="FFFFFF"/>
      </a:lt1>
      <a:dk2>
        <a:srgbClr val="1F5E8C"/>
      </a:dk2>
      <a:lt2>
        <a:srgbClr val="EEF3F7"/>
      </a:lt2>
      <a:accent1>
        <a:srgbClr val="1F5E8C"/>
      </a:accent1>
      <a:accent2>
        <a:srgbClr val="2A9D8F"/>
      </a:accent2>
      <a:accent3>
        <a:srgbClr val="E9A23B"/>
      </a:accent3>
      <a:accent4>
        <a:srgbClr val="C8553D"/>
      </a:accent4>
      <a:accent5>
        <a:srgbClr val="6C7A89"/>
      </a:accent5>
      <a:accent6>
        <a:srgbClr val="8FB8DE"/>
      </a:accent6>
      <a:hlink>
        <a:srgbClr val="1F5E8C"/>
      </a:hlink>
      <a:folHlink>
        <a:srgbClr val="6C7A89"/>
      </a:folHlink>
    </a:clrScheme>
    <a:fontScheme name="Calidad Calculador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Calidad de la calculadora</dc:title>
  <dc:subject>PptxGenJS Presentation</dc:subject>
  <dc:creator>Ingeniería de Calidad de Software</dc:creator>
  <cp:lastModifiedBy>Ingeniería de Calidad de Software</cp:lastModifiedBy>
  <cp:revision>1</cp:revision>
  <dcterms:created xsi:type="dcterms:W3CDTF">2026-10-19T05:11:33Z</dcterms:created>
  <dcterms:modified xsi:type="dcterms:W3CDTF">2026-10-19T05:11:33Z</dcterms:modified>
</cp:coreProperties>
</file>