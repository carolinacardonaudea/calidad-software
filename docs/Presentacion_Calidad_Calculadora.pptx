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bd55f690-8179-a15a-845a-424ec2f9cdbe}">
          <p14:sldIdLst>
            <p14:sldId id="256"/>
            <p14:sldId id="257"/>
            <p14:sldId id="258"/>
          </p14:sldIdLst>
        </p14:section>
        <p14:section name="Pruebas de aceptación" id="{2f1ae5f8-90a1-52ce-18b1-60b7070f7836}">
          <p14:sldIdLst>
            <p14:sldId id="259"/>
            <p14:sldId id="260"/>
            <p14:sldId id="261"/>
          </p14:sldIdLst>
        </p14:section>
        <p14:section name="SonarCloud" id="{1064afee-a0cb-de8f-4320-f175c78946ef}">
          <p14:sldIdLst>
            <p14:sldId id="262"/>
            <p14:sldId id="263"/>
            <p14:sldId id="264"/>
          </p14:sldIdLst>
        </p14:section>
        <p14:section name="Cierre" id="{8190864e-5c99-4799-2362-a57ce8527738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Ejecuciones</c:v>
                </c:pt>
              </c:strCache>
            </c:strRef>
          </c:tx>
          <c:spPr>
            <a:solidFill>
              <a:srgbClr val="1F5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Operaciones</c:v>
                  </c:pt>
                  <c:pt idx="1">
                    <c:v>Excepciones</c:v>
                  </c:pt>
                  <c:pt idx="2">
                    <c:v>Historial</c:v>
                  </c:pt>
                  <c:pt idx="3">
                    <c:v>Extensibilidad</c:v>
                  </c:pt>
                  <c:pt idx="4">
                    <c:v>UI teclado</c:v>
                  </c:pt>
                  <c:pt idx="5">
                    <c:v>UI errores</c:v>
                  </c:pt>
                  <c:pt idx="6">
                    <c:v>Consola CLI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</c:v>
                </c:pt>
                <c:pt idx="1">
                  <c:v>20</c:v>
                </c:pt>
                <c:pt idx="2">
                  <c:v>4</c:v>
                </c:pt>
                <c:pt idx="3">
                  <c:v>5</c:v>
                </c:pt>
                <c:pt idx="4">
                  <c:v>28</c:v>
                </c:pt>
                <c:pt idx="5">
                  <c:v>11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cómo se verifica la calidad de la calculadora más allá de las pruebas unitarias.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responde una pregunta distinta. Las tres se automatizan con Gradle y se encadenan en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tomados del README y del último reporte de JaCoCo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calculadora no expone endpoints. Karate invoca clases Java, así que se crearon tres drivers que representan las tres puertas de entrada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de Examples cuenta como una ejecución. 44 definiciones de escenario. Verificado con un arnés equivalente en Java: 130 de 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Examples convierte un escenario en muchos casos. Agregar un caso es agregar una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“Calculadora Quality Gate”: el código nuevo se exige estrictamente; el total tiene topes más holgados. Los valores de complejidad total son iniciales y se calibran tras el primer análisis.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perfil integrado Sonar way es de solo lectura: se copia como “Calculadora Java Profile” y se activan reglas con umbral propio. El profile detecta; el gate bloquea (new_violations =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de GitHub Actions: sonar/sonarcloud.yml (se copia a .github/workflows/). El reporte de Karate queda como artefacto.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 transparente: Karate y Sonar se prepararon sin acceso a internet para ejecutarlos; los resultados esperados sí se verificaron contra el código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Calidad de la calculadora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Pruebas de aceptación con Karate, Quality Gate y Quality Profile en SonarCloud</a:t>
            </a:r>
            <a:endParaRPr lang="en-US" sz="2200" dirty="0"/>
          </a:p>
        </p:txBody>
      </p:sp>
      <p:sp>
        <p:nvSpPr>
          <p:cNvPr id="4" name="Fecha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Calidad de Software · UdeA ·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capas de calidad</a:t>
            </a:r>
            <a:endParaRPr lang="en-US" sz="3200" dirty="0"/>
          </a:p>
        </p:txBody>
      </p:sp>
      <p:sp>
        <p:nvSpPr>
          <p:cNvPr id="4" name="Tarjeta Unitaria"/>
          <p:cNvSpPr/>
          <p:nvPr/>
        </p:nvSpPr>
        <p:spPr>
          <a:xfrm>
            <a:off x="45720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úmero 1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número 1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Capa Unitaria"/>
          <p:cNvSpPr txBox="1"/>
          <p:nvPr/>
        </p:nvSpPr>
        <p:spPr>
          <a:xfrm>
            <a:off x="73152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</a:t>
            </a:r>
            <a:endParaRPr lang="en-US" sz="2400" dirty="0"/>
          </a:p>
        </p:txBody>
      </p:sp>
      <p:sp>
        <p:nvSpPr>
          <p:cNvPr id="8" name="Herramienta Unitaria"/>
          <p:cNvSpPr txBox="1"/>
          <p:nvPr/>
        </p:nvSpPr>
        <p:spPr>
          <a:xfrm>
            <a:off x="73152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JaCoCo</a:t>
            </a:r>
            <a:endParaRPr lang="en-US" sz="1600" dirty="0"/>
          </a:p>
        </p:txBody>
      </p:sp>
      <p:sp>
        <p:nvSpPr>
          <p:cNvPr id="9" name="Pregunta Unitaria"/>
          <p:cNvSpPr txBox="1"/>
          <p:nvPr/>
        </p:nvSpPr>
        <p:spPr>
          <a:xfrm>
            <a:off x="7315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¿Cada clase funciona sola?</a:t>
            </a:r>
            <a:endParaRPr lang="en-US" sz="1600" dirty="0"/>
          </a:p>
        </p:txBody>
      </p:sp>
      <p:sp>
        <p:nvSpPr>
          <p:cNvPr id="10" name="Tarjeta Aceptación"/>
          <p:cNvSpPr/>
          <p:nvPr/>
        </p:nvSpPr>
        <p:spPr>
          <a:xfrm>
            <a:off x="329184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úmero 2"/>
          <p:cNvSpPr/>
          <p:nvPr/>
        </p:nvSpPr>
        <p:spPr>
          <a:xfrm>
            <a:off x="35661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o número 2"/>
          <p:cNvSpPr txBox="1"/>
          <p:nvPr/>
        </p:nvSpPr>
        <p:spPr>
          <a:xfrm>
            <a:off x="35661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Capa Aceptación"/>
          <p:cNvSpPr txBox="1"/>
          <p:nvPr/>
        </p:nvSpPr>
        <p:spPr>
          <a:xfrm>
            <a:off x="35661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</a:t>
            </a:r>
            <a:endParaRPr lang="en-US" sz="2400" dirty="0"/>
          </a:p>
        </p:txBody>
      </p:sp>
      <p:sp>
        <p:nvSpPr>
          <p:cNvPr id="14" name="Herramienta Aceptación"/>
          <p:cNvSpPr txBox="1"/>
          <p:nvPr/>
        </p:nvSpPr>
        <p:spPr>
          <a:xfrm>
            <a:off x="356616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(Gherkin)</a:t>
            </a:r>
            <a:endParaRPr lang="en-US" sz="1600" dirty="0"/>
          </a:p>
        </p:txBody>
      </p:sp>
      <p:sp>
        <p:nvSpPr>
          <p:cNvPr id="15" name="Pregunta Aceptación"/>
          <p:cNvSpPr txBox="1"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usuario obtiene lo que espera?</a:t>
            </a:r>
            <a:endParaRPr lang="en-US" sz="1600" dirty="0"/>
          </a:p>
        </p:txBody>
      </p:sp>
      <p:sp>
        <p:nvSpPr>
          <p:cNvPr id="16" name="Tarjeta Estática"/>
          <p:cNvSpPr/>
          <p:nvPr/>
        </p:nvSpPr>
        <p:spPr>
          <a:xfrm>
            <a:off x="612648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úmero 3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número 3"/>
          <p:cNvSpPr txBox="1"/>
          <p:nvPr/>
        </p:nvSpPr>
        <p:spPr>
          <a:xfrm>
            <a:off x="6400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Capa Estática"/>
          <p:cNvSpPr txBox="1"/>
          <p:nvPr/>
        </p:nvSpPr>
        <p:spPr>
          <a:xfrm>
            <a:off x="640080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Estática</a:t>
            </a:r>
            <a:endParaRPr lang="en-US" sz="2400" dirty="0"/>
          </a:p>
        </p:txBody>
      </p:sp>
      <p:sp>
        <p:nvSpPr>
          <p:cNvPr id="20" name="Herramienta Estática"/>
          <p:cNvSpPr txBox="1"/>
          <p:nvPr/>
        </p:nvSpPr>
        <p:spPr>
          <a:xfrm>
            <a:off x="640080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1600" dirty="0"/>
          </a:p>
        </p:txBody>
      </p:sp>
      <p:sp>
        <p:nvSpPr>
          <p:cNvPr id="21" name="Pregunta Estática"/>
          <p:cNvSpPr txBox="1"/>
          <p:nvPr/>
        </p:nvSpPr>
        <p:spPr>
          <a:xfrm>
            <a:off x="640080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código sigue sano y cubierto?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</a:t>
            </a:r>
            <a:endParaRPr lang="en-US" sz="3200" dirty="0"/>
          </a:p>
        </p:txBody>
      </p:sp>
      <p:sp>
        <p:nvSpPr>
          <p:cNvPr id="4" name="Tarjeta dato 1"/>
          <p:cNvSpPr/>
          <p:nvPr/>
        </p:nvSpPr>
        <p:spPr>
          <a:xfrm>
            <a:off x="457200" y="137160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fra 1"/>
          <p:cNvSpPr txBox="1"/>
          <p:nvPr/>
        </p:nvSpPr>
        <p:spPr>
          <a:xfrm>
            <a:off x="59436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4000" dirty="0"/>
          </a:p>
        </p:txBody>
      </p:sp>
      <p:sp>
        <p:nvSpPr>
          <p:cNvPr id="6" name="Etiqueta 1"/>
          <p:cNvSpPr txBox="1"/>
          <p:nvPr/>
        </p:nvSpPr>
        <p:spPr>
          <a:xfrm>
            <a:off x="59436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en verde</a:t>
            </a:r>
            <a:endParaRPr lang="en-US" sz="1400" dirty="0"/>
          </a:p>
        </p:txBody>
      </p:sp>
      <p:sp>
        <p:nvSpPr>
          <p:cNvPr id="7" name="Tarjeta dato 2"/>
          <p:cNvSpPr/>
          <p:nvPr/>
        </p:nvSpPr>
        <p:spPr>
          <a:xfrm>
            <a:off x="2560320" y="137160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ifra 2"/>
          <p:cNvSpPr txBox="1"/>
          <p:nvPr/>
        </p:nvSpPr>
        <p:spPr>
          <a:xfrm>
            <a:off x="269748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93,3 %</a:t>
            </a:r>
            <a:endParaRPr lang="en-US" sz="4000" dirty="0"/>
          </a:p>
        </p:txBody>
      </p:sp>
      <p:sp>
        <p:nvSpPr>
          <p:cNvPr id="9" name="Etiqueta 2"/>
          <p:cNvSpPr txBox="1"/>
          <p:nvPr/>
        </p:nvSpPr>
        <p:spPr>
          <a:xfrm>
            <a:off x="269748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cubiertas (JaCoCo)</a:t>
            </a:r>
            <a:endParaRPr lang="en-US" sz="1400" dirty="0"/>
          </a:p>
        </p:txBody>
      </p:sp>
      <p:sp>
        <p:nvSpPr>
          <p:cNvPr id="10" name="Tarjeta dato 3"/>
          <p:cNvSpPr/>
          <p:nvPr/>
        </p:nvSpPr>
        <p:spPr>
          <a:xfrm>
            <a:off x="4663440" y="137160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3"/>
          <p:cNvSpPr txBox="1"/>
          <p:nvPr/>
        </p:nvSpPr>
        <p:spPr>
          <a:xfrm>
            <a:off x="480060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Etiqueta 3"/>
          <p:cNvSpPr txBox="1"/>
          <p:nvPr/>
        </p:nvSpPr>
        <p:spPr>
          <a:xfrm>
            <a:off x="480060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operaciones: + − × ÷ ^ √</a:t>
            </a:r>
            <a:endParaRPr lang="en-US" sz="1400" dirty="0"/>
          </a:p>
        </p:txBody>
      </p:sp>
      <p:sp>
        <p:nvSpPr>
          <p:cNvPr id="13" name="Tarjeta dato 4"/>
          <p:cNvSpPr/>
          <p:nvPr/>
        </p:nvSpPr>
        <p:spPr>
          <a:xfrm>
            <a:off x="6766560" y="1371600"/>
            <a:ext cx="1920240" cy="20116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fra 4"/>
          <p:cNvSpPr txBox="1"/>
          <p:nvPr/>
        </p:nvSpPr>
        <p:spPr>
          <a:xfrm>
            <a:off x="6903720" y="16002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15" name="Etiqueta 4"/>
          <p:cNvSpPr txBox="1"/>
          <p:nvPr/>
        </p:nvSpPr>
        <p:spPr>
          <a:xfrm>
            <a:off x="6903720" y="2468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en el historial</a:t>
            </a:r>
            <a:endParaRPr lang="en-US" sz="1400" dirty="0"/>
          </a:p>
        </p:txBody>
      </p:sp>
      <p:sp>
        <p:nvSpPr>
          <p:cNvPr id="16" name="Stack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· Gradle 9.7.1 · interfaz Swing y consola · diseño SOLID con patrón MVP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Karate sin API HTTP</a:t>
            </a:r>
            <a:endParaRPr lang="en-US" sz="3200" dirty="0"/>
          </a:p>
        </p:txBody>
      </p:sp>
      <p:sp>
        <p:nvSpPr>
          <p:cNvPr id="4" name="Tarjeta features"/>
          <p:cNvSpPr/>
          <p:nvPr/>
        </p:nvSpPr>
        <p:spPr>
          <a:xfrm>
            <a:off x="457200" y="1371600"/>
            <a:ext cx="2011680" cy="310896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eatures título"/>
          <p:cNvSpPr txBox="1"/>
          <p:nvPr/>
        </p:nvSpPr>
        <p:spPr>
          <a:xfrm>
            <a:off x="5943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</a:t>
            </a:r>
            <a:endParaRPr lang="en-US" sz="2000" dirty="0"/>
          </a:p>
        </p:txBody>
      </p:sp>
      <p:sp>
        <p:nvSpPr>
          <p:cNvPr id="6" name="Features detalle"/>
          <p:cNvSpPr txBox="1"/>
          <p:nvPr/>
        </p:nvSpPr>
        <p:spPr>
          <a:xfrm>
            <a:off x="594360" y="2697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.feature en Gherkin</a:t>
            </a:r>
            <a:endParaRPr lang="en-US" sz="1400" dirty="0"/>
          </a:p>
        </p:txBody>
      </p:sp>
      <p:sp>
        <p:nvSpPr>
          <p:cNvPr id="7" name="Driver 1"/>
          <p:cNvSpPr/>
          <p:nvPr/>
        </p:nvSpPr>
        <p:spPr>
          <a:xfrm>
            <a:off x="2926080" y="137160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Driver texto 1"/>
          <p:cNvSpPr txBox="1"/>
          <p:nvPr/>
        </p:nvSpPr>
        <p:spPr>
          <a:xfrm>
            <a:off x="3063240" y="148132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motor</a:t>
            </a:r>
            <a:endParaRPr lang="en-US" sz="1600" dirty="0"/>
          </a:p>
        </p:txBody>
      </p:sp>
      <p:sp>
        <p:nvSpPr>
          <p:cNvPr id="9" name="Flecha a driver 1"/>
          <p:cNvSpPr txBox="1"/>
          <p:nvPr/>
        </p:nvSpPr>
        <p:spPr>
          <a:xfrm>
            <a:off x="24688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Flecha a app 1"/>
          <p:cNvSpPr txBox="1"/>
          <p:nvPr/>
        </p:nvSpPr>
        <p:spPr>
          <a:xfrm>
            <a:off x="56692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Aplicación 1"/>
          <p:cNvSpPr/>
          <p:nvPr/>
        </p:nvSpPr>
        <p:spPr>
          <a:xfrm>
            <a:off x="6126480" y="137160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Aplicación texto 1"/>
          <p:cNvSpPr txBox="1"/>
          <p:nvPr/>
        </p:nvSpPr>
        <p:spPr>
          <a:xfrm>
            <a:off x="6263640" y="14813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operaciones, errores, historial</a:t>
            </a:r>
            <a:endParaRPr lang="en-US" sz="1600" dirty="0"/>
          </a:p>
        </p:txBody>
      </p:sp>
      <p:sp>
        <p:nvSpPr>
          <p:cNvPr id="13" name="Driver 2"/>
          <p:cNvSpPr/>
          <p:nvPr/>
        </p:nvSpPr>
        <p:spPr>
          <a:xfrm>
            <a:off x="2926080" y="242316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Driver texto 2"/>
          <p:cNvSpPr txBox="1"/>
          <p:nvPr/>
        </p:nvSpPr>
        <p:spPr>
          <a:xfrm>
            <a:off x="3063240" y="253288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teclas</a:t>
            </a:r>
            <a:endParaRPr lang="en-US" sz="1600" dirty="0"/>
          </a:p>
        </p:txBody>
      </p:sp>
      <p:sp>
        <p:nvSpPr>
          <p:cNvPr id="15" name="Flecha a driver 2"/>
          <p:cNvSpPr txBox="1"/>
          <p:nvPr/>
        </p:nvSpPr>
        <p:spPr>
          <a:xfrm>
            <a:off x="24688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Flecha a app 2"/>
          <p:cNvSpPr txBox="1"/>
          <p:nvPr/>
        </p:nvSpPr>
        <p:spPr>
          <a:xfrm>
            <a:off x="56692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Aplicación 2"/>
          <p:cNvSpPr/>
          <p:nvPr/>
        </p:nvSpPr>
        <p:spPr>
          <a:xfrm>
            <a:off x="6126480" y="242316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Aplicación texto 2"/>
          <p:cNvSpPr txBox="1"/>
          <p:nvPr/>
        </p:nvSpPr>
        <p:spPr>
          <a:xfrm>
            <a:off x="6263640" y="25328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CalculatorPresenter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y errores, sin ventana</a:t>
            </a:r>
            <a:endParaRPr lang="en-US" sz="1600" dirty="0"/>
          </a:p>
        </p:txBody>
      </p:sp>
      <p:sp>
        <p:nvSpPr>
          <p:cNvPr id="19" name="Driver 3"/>
          <p:cNvSpPr/>
          <p:nvPr/>
        </p:nvSpPr>
        <p:spPr>
          <a:xfrm>
            <a:off x="2926080" y="347472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Driver texto 3"/>
          <p:cNvSpPr txBox="1"/>
          <p:nvPr/>
        </p:nvSpPr>
        <p:spPr>
          <a:xfrm>
            <a:off x="3063240" y="3584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terminal</a:t>
            </a:r>
            <a:endParaRPr lang="en-US" sz="1600" dirty="0"/>
          </a:p>
        </p:txBody>
      </p:sp>
      <p:sp>
        <p:nvSpPr>
          <p:cNvPr id="21" name="Flecha a driver 3"/>
          <p:cNvSpPr txBox="1"/>
          <p:nvPr/>
        </p:nvSpPr>
        <p:spPr>
          <a:xfrm>
            <a:off x="24688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Flecha a app 3"/>
          <p:cNvSpPr txBox="1"/>
          <p:nvPr/>
        </p:nvSpPr>
        <p:spPr>
          <a:xfrm>
            <a:off x="56692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Aplicación 3"/>
          <p:cNvSpPr/>
          <p:nvPr/>
        </p:nvSpPr>
        <p:spPr>
          <a:xfrm>
            <a:off x="6126480" y="347472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Aplicación texto 3"/>
          <p:cNvSpPr txBox="1"/>
          <p:nvPr/>
        </p:nvSpPr>
        <p:spPr>
          <a:xfrm>
            <a:off x="6263640" y="358444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--cli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consola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130 ejecuciones en 7 features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otal ejecuciones"/>
          <p:cNvSpPr txBox="1"/>
          <p:nvPr/>
        </p:nvSpPr>
        <p:spPr>
          <a:xfrm>
            <a:off x="6217920" y="1463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6600" dirty="0"/>
          </a:p>
        </p:txBody>
      </p:sp>
      <p:sp>
        <p:nvSpPr>
          <p:cNvPr id="6" name="Etiqueta total"/>
          <p:cNvSpPr txBox="1"/>
          <p:nvPr/>
        </p:nvSpPr>
        <p:spPr>
          <a:xfrm>
            <a:off x="62179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de escenario</a:t>
            </a:r>
            <a:endParaRPr lang="en-US" sz="1600" dirty="0"/>
          </a:p>
        </p:txBody>
      </p:sp>
      <p:sp>
        <p:nvSpPr>
          <p:cNvPr id="7" name="Resumen suite"/>
          <p:cNvSpPr txBox="1"/>
          <p:nvPr/>
        </p:nvSpPr>
        <p:spPr>
          <a:xfrm>
            <a:off x="6217920" y="31089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definiciones de escenario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feliz y excepcional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interfaz y consola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 escenario Karate</a:t>
            </a:r>
            <a:endParaRPr lang="en-US" sz="3200" dirty="0"/>
          </a:p>
        </p:txBody>
      </p:sp>
      <p:sp>
        <p:nvSpPr>
          <p:cNvPr id="4" name="Caja código"/>
          <p:cNvSpPr/>
          <p:nvPr/>
        </p:nvSpPr>
        <p:spPr>
          <a:xfrm>
            <a:off x="457200" y="1371600"/>
            <a:ext cx="5212080" cy="265176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ódigo Gherkin"/>
          <p:cNvSpPr txBox="1"/>
          <p:nvPr/>
        </p:nvSpPr>
        <p:spPr>
          <a:xfrm>
            <a:off x="640080" y="1554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Outline: Division de &lt;a&gt; / &lt;b&gt;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calc.calculate('/', &lt;a&gt;, &lt;b&gt;)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calc.errorType() == null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calc.result() == '&lt;esperado&gt;'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Examples: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a  | b | esperado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10 | 4 | 2.5     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  | 3 | 0.3333333333 |</a:t>
            </a:r>
            <a:endParaRPr lang="en-US" sz="1200" dirty="0"/>
          </a:p>
        </p:txBody>
      </p:sp>
      <p:sp>
        <p:nvSpPr>
          <p:cNvPr id="6" name="Ideas ejemplo"/>
          <p:cNvSpPr txBox="1"/>
          <p:nvPr/>
        </p:nvSpPr>
        <p:spPr>
          <a:xfrm>
            <a:off x="5943600" y="146304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natural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/ Cuando / Entonces, entendible sin leer Java.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fila, un caso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casos límite se agregan sin tocar código.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verificables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errorType() permite afirmar el camino excepcional.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Gate</a:t>
            </a:r>
            <a:endParaRPr lang="en-US" sz="3200" dirty="0"/>
          </a:p>
        </p:txBody>
      </p:sp>
      <p:sp>
        <p:nvSpPr>
          <p:cNvPr id="4" name="Tarjeta Código nuevo"/>
          <p:cNvSpPr/>
          <p:nvPr/>
        </p:nvSpPr>
        <p:spPr>
          <a:xfrm>
            <a:off x="45720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ítulo Código nuevo"/>
          <p:cNvSpPr txBox="1"/>
          <p:nvPr/>
        </p:nvSpPr>
        <p:spPr>
          <a:xfrm>
            <a:off x="73152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nuevo</a:t>
            </a:r>
            <a:endParaRPr lang="en-US" sz="2200" dirty="0"/>
          </a:p>
        </p:txBody>
      </p:sp>
      <p:sp>
        <p:nvSpPr>
          <p:cNvPr id="6" name="Condiciones Código nuevo"/>
          <p:cNvSpPr txBox="1"/>
          <p:nvPr/>
        </p:nvSpPr>
        <p:spPr>
          <a:xfrm>
            <a:off x="73152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nuevos = 0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Duplicación ≤ 3 %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Fiabilidad, seguridad y mantenibilidad: 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 revisados: 100 %</a:t>
            </a:r>
            <a:endParaRPr lang="en-US" sz="1600" dirty="0"/>
          </a:p>
        </p:txBody>
      </p:sp>
      <p:sp>
        <p:nvSpPr>
          <p:cNvPr id="7" name="Tarjeta Código total"/>
          <p:cNvSpPr/>
          <p:nvPr/>
        </p:nvSpPr>
        <p:spPr>
          <a:xfrm>
            <a:off x="466344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ítulo Código total"/>
          <p:cNvSpPr txBox="1"/>
          <p:nvPr/>
        </p:nvSpPr>
        <p:spPr>
          <a:xfrm>
            <a:off x="493776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total</a:t>
            </a:r>
            <a:endParaRPr lang="en-US" sz="2200" dirty="0"/>
          </a:p>
        </p:txBody>
      </p:sp>
      <p:sp>
        <p:nvSpPr>
          <p:cNvPr id="9" name="Condiciones Código total"/>
          <p:cNvSpPr txBox="1"/>
          <p:nvPr/>
        </p:nvSpPr>
        <p:spPr>
          <a:xfrm>
            <a:off x="493776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ciclomática ≤ 250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cognitiva ≤ 120</a:t>
            </a:r>
            <a:endParaRPr lang="en-US" sz="1600" dirty="0"/>
          </a:p>
        </p:txBody>
      </p:sp>
      <p:sp>
        <p:nvSpPr>
          <p:cNvPr id="10" name="Nota gate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gate falla, el análisis falla (sonar.qualitygate.wait = true).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Profile y métricas</a:t>
            </a:r>
            <a:endParaRPr lang="en-US" sz="3200" dirty="0"/>
          </a:p>
        </p:txBody>
      </p:sp>
      <p:sp>
        <p:nvSpPr>
          <p:cNvPr id="4" name="Tarjeta Ciclomática"/>
          <p:cNvSpPr/>
          <p:nvPr/>
        </p:nvSpPr>
        <p:spPr>
          <a:xfrm>
            <a:off x="45720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étrica Ciclomática"/>
          <p:cNvSpPr txBox="1"/>
          <p:nvPr/>
        </p:nvSpPr>
        <p:spPr>
          <a:xfrm>
            <a:off x="6858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Ciclomática</a:t>
            </a:r>
            <a:endParaRPr lang="en-US" sz="2000" dirty="0"/>
          </a:p>
        </p:txBody>
      </p:sp>
      <p:sp>
        <p:nvSpPr>
          <p:cNvPr id="6" name="Umbral Ciclomática"/>
          <p:cNvSpPr txBox="1"/>
          <p:nvPr/>
        </p:nvSpPr>
        <p:spPr>
          <a:xfrm>
            <a:off x="68580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</a:t>
            </a:r>
            <a:endParaRPr lang="en-US" sz="4400" dirty="0"/>
          </a:p>
        </p:txBody>
      </p:sp>
      <p:sp>
        <p:nvSpPr>
          <p:cNvPr id="7" name="Alcance Ciclomática"/>
          <p:cNvSpPr txBox="1"/>
          <p:nvPr/>
        </p:nvSpPr>
        <p:spPr>
          <a:xfrm>
            <a:off x="68580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8" name="Fuente Ciclomática"/>
          <p:cNvSpPr txBox="1"/>
          <p:nvPr/>
        </p:nvSpPr>
        <p:spPr>
          <a:xfrm>
            <a:off x="6858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java:S1541 · Major</a:t>
            </a:r>
            <a:endParaRPr lang="en-US" sz="1200" dirty="0"/>
          </a:p>
        </p:txBody>
      </p:sp>
      <p:sp>
        <p:nvSpPr>
          <p:cNvPr id="9" name="Tarjeta Cognitiva"/>
          <p:cNvSpPr/>
          <p:nvPr/>
        </p:nvSpPr>
        <p:spPr>
          <a:xfrm>
            <a:off x="329184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étrica Cognitiva"/>
          <p:cNvSpPr txBox="1"/>
          <p:nvPr/>
        </p:nvSpPr>
        <p:spPr>
          <a:xfrm>
            <a:off x="35204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Cognitiva</a:t>
            </a:r>
            <a:endParaRPr lang="en-US" sz="2000" dirty="0"/>
          </a:p>
        </p:txBody>
      </p:sp>
      <p:sp>
        <p:nvSpPr>
          <p:cNvPr id="11" name="Umbral Cognitiva"/>
          <p:cNvSpPr txBox="1"/>
          <p:nvPr/>
        </p:nvSpPr>
        <p:spPr>
          <a:xfrm>
            <a:off x="352044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</a:t>
            </a:r>
            <a:endParaRPr lang="en-US" sz="4400" dirty="0"/>
          </a:p>
        </p:txBody>
      </p:sp>
      <p:sp>
        <p:nvSpPr>
          <p:cNvPr id="12" name="Alcance Cognitiva"/>
          <p:cNvSpPr txBox="1"/>
          <p:nvPr/>
        </p:nvSpPr>
        <p:spPr>
          <a:xfrm>
            <a:off x="35204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13" name="Fuente Cognitiva"/>
          <p:cNvSpPr txBox="1"/>
          <p:nvPr/>
        </p:nvSpPr>
        <p:spPr>
          <a:xfrm>
            <a:off x="352044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java:S3776 · Critical</a:t>
            </a:r>
            <a:endParaRPr lang="en-US" sz="1200" dirty="0"/>
          </a:p>
        </p:txBody>
      </p:sp>
      <p:sp>
        <p:nvSpPr>
          <p:cNvPr id="14" name="Tarjeta Cobertura"/>
          <p:cNvSpPr/>
          <p:nvPr/>
        </p:nvSpPr>
        <p:spPr>
          <a:xfrm>
            <a:off x="612648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Métrica Cobertura"/>
          <p:cNvSpPr txBox="1"/>
          <p:nvPr/>
        </p:nvSpPr>
        <p:spPr>
          <a:xfrm>
            <a:off x="63550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2000" dirty="0"/>
          </a:p>
        </p:txBody>
      </p:sp>
      <p:sp>
        <p:nvSpPr>
          <p:cNvPr id="16" name="Umbral Cobertura"/>
          <p:cNvSpPr txBox="1"/>
          <p:nvPr/>
        </p:nvSpPr>
        <p:spPr>
          <a:xfrm>
            <a:off x="6355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4400" dirty="0"/>
          </a:p>
        </p:txBody>
      </p:sp>
      <p:sp>
        <p:nvSpPr>
          <p:cNvPr id="17" name="Alcance Cobertura"/>
          <p:cNvSpPr txBox="1"/>
          <p:nvPr/>
        </p:nvSpPr>
        <p:spPr>
          <a:xfrm>
            <a:off x="63550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y código nuevo</a:t>
            </a:r>
            <a:endParaRPr lang="en-US" sz="1400" dirty="0"/>
          </a:p>
        </p:txBody>
      </p:sp>
      <p:sp>
        <p:nvSpPr>
          <p:cNvPr id="18" name="Fuente Cobertura"/>
          <p:cNvSpPr txBox="1"/>
          <p:nvPr/>
        </p:nvSpPr>
        <p:spPr>
          <a:xfrm>
            <a:off x="635508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Quality Gate</a:t>
            </a:r>
            <a:endParaRPr lang="en-US" sz="1200" dirty="0"/>
          </a:p>
        </p:txBody>
      </p:sp>
      <p:sp>
        <p:nvSpPr>
          <p:cNvPr id="19" name="Resumen perfil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“Calculadora Java Profile” = copia de Sonar way + reglas de complejidad con umbral propio.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Del commit al semáforo</a:t>
            </a:r>
            <a:endParaRPr lang="en-US" sz="3200" dirty="0"/>
          </a:p>
        </p:txBody>
      </p:sp>
      <p:sp>
        <p:nvSpPr>
          <p:cNvPr id="4" name="Conector 1"/>
          <p:cNvSpPr/>
          <p:nvPr/>
        </p:nvSpPr>
        <p:spPr>
          <a:xfrm>
            <a:off x="1234440" y="214884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5" name="Paso 1"/>
          <p:cNvSpPr/>
          <p:nvPr/>
        </p:nvSpPr>
        <p:spPr>
          <a:xfrm>
            <a:off x="685800" y="1828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úmero paso 1"/>
          <p:cNvSpPr txBox="1"/>
          <p:nvPr/>
        </p:nvSpPr>
        <p:spPr>
          <a:xfrm>
            <a:off x="6858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Etiqueta paso 1"/>
          <p:cNvSpPr txBox="1"/>
          <p:nvPr/>
        </p:nvSpPr>
        <p:spPr>
          <a:xfrm>
            <a:off x="457200" y="2697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o pull request</a:t>
            </a:r>
            <a:endParaRPr lang="en-US" sz="1400" dirty="0"/>
          </a:p>
        </p:txBody>
      </p:sp>
      <p:sp>
        <p:nvSpPr>
          <p:cNvPr id="8" name="Conector 2"/>
          <p:cNvSpPr/>
          <p:nvPr/>
        </p:nvSpPr>
        <p:spPr>
          <a:xfrm>
            <a:off x="2926080" y="214884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9" name="Paso 2"/>
          <p:cNvSpPr/>
          <p:nvPr/>
        </p:nvSpPr>
        <p:spPr>
          <a:xfrm>
            <a:off x="2377440" y="1828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23774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Etiqueta paso 2"/>
          <p:cNvSpPr txBox="1"/>
          <p:nvPr/>
        </p:nvSpPr>
        <p:spPr>
          <a:xfrm>
            <a:off x="2148840" y="2697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y Karate</a:t>
            </a:r>
            <a:endParaRPr lang="en-US" sz="1400" dirty="0"/>
          </a:p>
        </p:txBody>
      </p:sp>
      <p:sp>
        <p:nvSpPr>
          <p:cNvPr id="12" name="Conector 3"/>
          <p:cNvSpPr/>
          <p:nvPr/>
        </p:nvSpPr>
        <p:spPr>
          <a:xfrm>
            <a:off x="4617720" y="214884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3" name="Paso 3"/>
          <p:cNvSpPr/>
          <p:nvPr/>
        </p:nvSpPr>
        <p:spPr>
          <a:xfrm>
            <a:off x="4069080" y="1828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úmero paso 3"/>
          <p:cNvSpPr txBox="1"/>
          <p:nvPr/>
        </p:nvSpPr>
        <p:spPr>
          <a:xfrm>
            <a:off x="40690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Etiqueta paso 3"/>
          <p:cNvSpPr txBox="1"/>
          <p:nvPr/>
        </p:nvSpPr>
        <p:spPr>
          <a:xfrm>
            <a:off x="3840480" y="2697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JaCoCo</a:t>
            </a:r>
            <a:endParaRPr lang="en-US" sz="1400" dirty="0"/>
          </a:p>
        </p:txBody>
      </p:sp>
      <p:sp>
        <p:nvSpPr>
          <p:cNvPr id="16" name="Conector 4"/>
          <p:cNvSpPr/>
          <p:nvPr/>
        </p:nvSpPr>
        <p:spPr>
          <a:xfrm>
            <a:off x="6309360" y="214884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7" name="Paso 4"/>
          <p:cNvSpPr/>
          <p:nvPr/>
        </p:nvSpPr>
        <p:spPr>
          <a:xfrm>
            <a:off x="5760720" y="1828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úmero paso 4"/>
          <p:cNvSpPr txBox="1"/>
          <p:nvPr/>
        </p:nvSpPr>
        <p:spPr>
          <a:xfrm>
            <a:off x="57607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Etiqueta paso 4"/>
          <p:cNvSpPr txBox="1"/>
          <p:nvPr/>
        </p:nvSpPr>
        <p:spPr>
          <a:xfrm>
            <a:off x="5532120" y="2697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en SonarCloud</a:t>
            </a:r>
            <a:endParaRPr lang="en-US" sz="1400" dirty="0"/>
          </a:p>
        </p:txBody>
      </p:sp>
      <p:sp>
        <p:nvSpPr>
          <p:cNvPr id="20" name="Paso 5"/>
          <p:cNvSpPr/>
          <p:nvPr/>
        </p:nvSpPr>
        <p:spPr>
          <a:xfrm>
            <a:off x="7452360" y="18288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úmero paso 5"/>
          <p:cNvSpPr txBox="1"/>
          <p:nvPr/>
        </p:nvSpPr>
        <p:spPr>
          <a:xfrm>
            <a:off x="74523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Etiqueta paso 5"/>
          <p:cNvSpPr txBox="1"/>
          <p:nvPr/>
        </p:nvSpPr>
        <p:spPr>
          <a:xfrm>
            <a:off x="7223760" y="269748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400" dirty="0"/>
          </a:p>
        </p:txBody>
      </p:sp>
      <p:sp>
        <p:nvSpPr>
          <p:cNvPr id="23" name="Caja resultado"/>
          <p:cNvSpPr/>
          <p:nvPr/>
        </p:nvSpPr>
        <p:spPr>
          <a:xfrm>
            <a:off x="457200" y="379476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Resultado"/>
          <p:cNvSpPr txBox="1"/>
          <p:nvPr/>
        </p:nvSpPr>
        <p:spPr>
          <a:xfrm>
            <a:off x="640080" y="3794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gate falla, el pipeline falla y el cambio no se integra.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Límites y próximos pasos</a:t>
            </a:r>
            <a:endParaRPr lang="en-US" sz="3200" dirty="0"/>
          </a:p>
        </p:txBody>
      </p:sp>
      <p:sp>
        <p:nvSpPr>
          <p:cNvPr id="4" name="Título límites"/>
          <p:cNvSpPr txBox="1"/>
          <p:nvPr/>
        </p:nvSpPr>
        <p:spPr>
          <a:xfrm>
            <a:off x="45720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actuales</a:t>
            </a:r>
            <a:endParaRPr lang="en-US" sz="2200" dirty="0"/>
          </a:p>
        </p:txBody>
      </p:sp>
      <p:sp>
        <p:nvSpPr>
          <p:cNvPr id="5" name="Lista límites"/>
          <p:cNvSpPr txBox="1"/>
          <p:nvPr/>
        </p:nvSpPr>
        <p:spPr>
          <a:xfrm>
            <a:off x="45720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y Sonar aún sin corrida real (los resultados esperados sí se verificaron: 130 de 130)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de complejidad total por calibrar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aún sin repositorio Git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Swing sin prueba visual</a:t>
            </a:r>
            <a:endParaRPr lang="en-US" sz="1400" dirty="0"/>
          </a:p>
        </p:txBody>
      </p:sp>
      <p:sp>
        <p:nvSpPr>
          <p:cNvPr id="6" name="Título pasos"/>
          <p:cNvSpPr txBox="1"/>
          <p:nvPr/>
        </p:nvSpPr>
        <p:spPr>
          <a:xfrm>
            <a:off x="475488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7" name="Lista pasos"/>
          <p:cNvSpPr txBox="1"/>
          <p:nvPr/>
        </p:nvSpPr>
        <p:spPr>
          <a:xfrm>
            <a:off x="475488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en GitHub y crear el proyecto en SonarCloud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acceptanceTest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sonar/setup-sonarcloud.sh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los umbrales con el primer análisis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Preguntas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51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Karate valida lo que el usuario espera; Sonar cuida que el código siga sano.</a:t>
            </a:r>
            <a:endParaRPr lang="en-US" sz="2200" dirty="0"/>
          </a:p>
        </p:txBody>
      </p:sp>
      <p:sp>
        <p:nvSpPr>
          <p:cNvPr id="4" name="Entregables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pruebas-aceptacion/ · sonar/ · docs/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idad Calculadora">
  <a:themeElements>
    <a:clrScheme name="Calidad Calculadora">
      <a:dk1>
        <a:srgbClr val="1F2933"/>
      </a:dk1>
      <a:lt1>
        <a:srgbClr val="FFFFFF"/>
      </a:lt1>
      <a:dk2>
        <a:srgbClr val="1F5E8C"/>
      </a:dk2>
      <a:lt2>
        <a:srgbClr val="EEF3F7"/>
      </a:lt2>
      <a:accent1>
        <a:srgbClr val="1F5E8C"/>
      </a:accent1>
      <a:accent2>
        <a:srgbClr val="2A9D8F"/>
      </a:accent2>
      <a:accent3>
        <a:srgbClr val="E9A23B"/>
      </a:accent3>
      <a:accent4>
        <a:srgbClr val="C8553D"/>
      </a:accent4>
      <a:accent5>
        <a:srgbClr val="6C7A89"/>
      </a:accent5>
      <a:accent6>
        <a:srgbClr val="8FB8DE"/>
      </a:accent6>
      <a:hlink>
        <a:srgbClr val="1F5E8C"/>
      </a:hlink>
      <a:folHlink>
        <a:srgbClr val="6C7A89"/>
      </a:folHlink>
    </a:clrScheme>
    <a:fontScheme name="Calidad Calculado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Calidad de la calculadora</dc:title>
  <dc:subject>PptxGenJS Presentation</dc:subject>
  <dc:creator>Ingeniería de Calidad de Software</dc:creator>
  <cp:lastModifiedBy>Ingeniería de Calidad de Software</cp:lastModifiedBy>
  <cp:revision>1</cp:revision>
  <dcterms:created xsi:type="dcterms:W3CDTF">2026-10-19T02:59:50Z</dcterms:created>
  <dcterms:modified xsi:type="dcterms:W3CDTF">2026-10-19T02:59:50Z</dcterms:modified>
</cp:coreProperties>
</file>